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1_Montserrat_Regular.fntdata" ContentType="application/x-fontdata"/>
  <Override PartName="/ppt/fonts/Font_4_Roboto_Regular.fntdata" ContentType="application/x-fontdata"/>
  <Override PartName="/ppt/fonts/Font_5_Roboto_Italic.fntdata" ContentType="application/x-fontdata"/>
  <Override PartName="/ppt/fonts/Font_2_Montserrat_Bold.fntdata" ContentType="application/x-fontdata"/>
  <Override PartName="/ppt/fonts/Font_6_Roboto_BoldItalic.fntdata" ContentType="application/x-fontdata"/>
  <Override PartName="/ppt/fonts/Font_3_Montserrat_Italic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  <p:embeddedFontLst>
    <p:embeddedFont>
      <p:font typeface="Montserrat"/>
      <p:regular r:id="rId15"/>
      <p:bold r:id="rId16"/>
      <p:italic r:id="rId17"/>
    </p:embeddedFont>
    <p:embeddedFont>
      <p:font typeface="Vidaloka"/>
    </p:embeddedFont>
    <p:embeddedFont>
      <p:font typeface="Roboto"/>
      <p:regular r:id="rId18"/>
      <p:italic r:id="rId19"/>
      <p:boldItalic r:id="rId20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Montserrat_Regular.fntdata"/><Relationship Id="rId16" Type="http://schemas.openxmlformats.org/officeDocument/2006/relationships/font" Target="fonts/Font_2_Montserrat_Bold.fntdata"/><Relationship Id="rId17" Type="http://schemas.openxmlformats.org/officeDocument/2006/relationships/font" Target="fonts/Font_3_Montserrat_Italic.fntdata"/><Relationship Id="rId18" Type="http://schemas.openxmlformats.org/officeDocument/2006/relationships/font" Target="fonts/Font_4_Roboto_Regular.fntdata"/><Relationship Id="rId19" Type="http://schemas.openxmlformats.org/officeDocument/2006/relationships/font" Target="fonts/Font_5_Roboto_Italic.fntdata"/><Relationship Id="rId20" Type="http://schemas.openxmlformats.org/officeDocument/2006/relationships/font" Target="fonts/Font_6_Roboto_BoldItalic.fntdata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40040" y="1324440"/>
            <a:ext cx="70639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IN" sz="6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6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Google Shape;11;p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" name="Google Shape;12;p2"/>
          <p:cNvCxnSpPr/>
          <p:nvPr/>
        </p:nvCxnSpPr>
        <p:spPr>
          <a:xfrm flipV="1" rot="10800000">
            <a:off x="-257760" y="-72720"/>
            <a:ext cx="3047400" cy="134640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" name="Google Shape;13;p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" name="Google Shape;14;p2"/>
          <p:cNvCxnSpPr/>
          <p:nvPr/>
        </p:nvCxnSpPr>
        <p:spPr>
          <a:xfrm flipV="1" rot="10800000">
            <a:off x="6467040" y="3935160"/>
            <a:ext cx="3047760" cy="134676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13160" y="1345320"/>
            <a:ext cx="7717320" cy="164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120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Google Shape;68;p1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" name="Google Shape;69;p1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" name="Google Shape;70;p11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" name="Google Shape;71;p11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237852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572436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237888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572436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Google Shape;87;p1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" name="Google Shape;88;p1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sp>
        <p:nvSpPr>
          <p:cNvPr id="20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14824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34038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41662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title"/>
          </p:nvPr>
        </p:nvSpPr>
        <p:spPr>
          <a:xfrm>
            <a:off x="60876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title"/>
          </p:nvPr>
        </p:nvSpPr>
        <p:spPr>
          <a:xfrm>
            <a:off x="68500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title"/>
          </p:nvPr>
        </p:nvSpPr>
        <p:spPr>
          <a:xfrm>
            <a:off x="7200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title"/>
          </p:nvPr>
        </p:nvSpPr>
        <p:spPr>
          <a:xfrm>
            <a:off x="14824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title"/>
          </p:nvPr>
        </p:nvSpPr>
        <p:spPr>
          <a:xfrm>
            <a:off x="34038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title"/>
          </p:nvPr>
        </p:nvSpPr>
        <p:spPr>
          <a:xfrm>
            <a:off x="41662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1"/>
          <p:cNvSpPr>
            <a:spLocks noGrp="1"/>
          </p:cNvSpPr>
          <p:nvPr>
            <p:ph type="title"/>
          </p:nvPr>
        </p:nvSpPr>
        <p:spPr>
          <a:xfrm>
            <a:off x="60876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2"/>
          <p:cNvSpPr>
            <a:spLocks noGrp="1"/>
          </p:cNvSpPr>
          <p:nvPr>
            <p:ph type="title"/>
          </p:nvPr>
        </p:nvSpPr>
        <p:spPr>
          <a:xfrm>
            <a:off x="68500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3"/>
          <p:cNvSpPr>
            <a:spLocks noGrp="1"/>
          </p:cNvSpPr>
          <p:nvPr>
            <p:ph type="title"/>
          </p:nvPr>
        </p:nvSpPr>
        <p:spPr>
          <a:xfrm>
            <a:off x="2332440" y="444960"/>
            <a:ext cx="4479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" name="Google Shape;109;p1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5" name="Google Shape;110;p1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6" name="Google Shape;111;p14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7" name="Google Shape;112;p1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Google Shape;116;p1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0" name="Google Shape;117;p1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99840" y="282132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Google Shape;121;p1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3" name="Google Shape;122;p1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4" name="Google Shape;123;p16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5" name="Google Shape;124;p16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319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" name="Google Shape;128;p1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8" name="Google Shape;129;p1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9" name="Google Shape;130;p17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0" name="Google Shape;131;p17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Google Shape;135;p1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3" name="Google Shape;136;p1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4" name="Google Shape;137;p18"/>
          <p:cNvCxnSpPr/>
          <p:nvPr/>
        </p:nvCxnSpPr>
        <p:spPr>
          <a:xfrm flipV="1" rot="10800000">
            <a:off x="5924880" y="2796840"/>
            <a:ext cx="3378240" cy="246744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45640" y="1482840"/>
            <a:ext cx="7452720" cy="12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7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7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" name="Google Shape;141;p1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7" name="Google Shape;142;p1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742920" y="1549800"/>
            <a:ext cx="4544640" cy="12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9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9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Google Shape;146;p2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0" name="Google Shape;147;p2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1" name="Google Shape;148;p20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2" name="Google Shape;149;p20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3" name="Google Shape;150;p20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4" name="Google Shape;151;p20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67240" y="2366280"/>
            <a:ext cx="7409160" cy="8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3746520" y="133920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70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7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Google Shape;19;p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8" name="Google Shape;20;p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9" name="Google Shape;21;p3"/>
          <p:cNvCxnSpPr/>
          <p:nvPr/>
        </p:nvCxnSpPr>
        <p:spPr>
          <a:xfrm flipV="1" rot="10800000">
            <a:off x="7948440" y="3979080"/>
            <a:ext cx="1378800" cy="1236960"/>
          </a:xfrm>
          <a:prstGeom prst="curvedConnector3">
            <a:avLst>
              <a:gd name="adj1" fmla="val 49986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0" name="Google Shape;22;p3"/>
          <p:cNvCxnSpPr/>
          <p:nvPr/>
        </p:nvCxnSpPr>
        <p:spPr>
          <a:xfrm flipV="1" rot="10800000">
            <a:off x="-112680" y="-88560"/>
            <a:ext cx="1418760" cy="106452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27320" y="2511720"/>
            <a:ext cx="4965120" cy="111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3741840" y="148464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en-IN" sz="70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7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Google Shape;156;p21"/>
          <p:cNvCxnSpPr/>
          <p:nvPr/>
        </p:nvCxnSpPr>
        <p:spPr>
          <a:xfrm flipH="1">
            <a:off x="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4" name="Google Shape;157;p21"/>
          <p:cNvCxnSpPr/>
          <p:nvPr/>
        </p:nvCxnSpPr>
        <p:spPr>
          <a:xfrm flipH="1">
            <a:off x="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5" name="Google Shape;158;p21"/>
          <p:cNvCxnSpPr/>
          <p:nvPr/>
        </p:nvCxnSpPr>
        <p:spPr>
          <a:xfrm>
            <a:off x="-112680" y="3979440"/>
            <a:ext cx="1378440" cy="12369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6" name="Google Shape;159;p21"/>
          <p:cNvCxnSpPr/>
          <p:nvPr/>
        </p:nvCxnSpPr>
        <p:spPr>
          <a:xfrm>
            <a:off x="7908480" y="-88560"/>
            <a:ext cx="1419120" cy="1064520"/>
          </a:xfrm>
          <a:prstGeom prst="curvedConnector3">
            <a:avLst>
              <a:gd name="adj1" fmla="val 50012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162;p2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9" name="Google Shape;163;p2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0" name="Google Shape;164;p22"/>
          <p:cNvCxnSpPr/>
          <p:nvPr/>
        </p:nvCxnSpPr>
        <p:spPr>
          <a:xfrm>
            <a:off x="7207200" y="-153000"/>
            <a:ext cx="2120760" cy="12736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166;p2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3" name="Google Shape;167;p2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4" name="Google Shape;168;p23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5" name="Google Shape;169;p23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6" name="Google Shape;170;p23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7" name="Google Shape;171;p23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Google Shape;183;p2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2" name="Google Shape;184;p2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186;p2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4" name="Google Shape;187;p2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5" name="Google Shape;188;p25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6" name="Google Shape;189;p25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>
            <a:off x="5547960" y="3007800"/>
            <a:ext cx="2882520" cy="15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13160" y="1345320"/>
            <a:ext cx="6120000" cy="164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IN" sz="120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Google Shape;194;p2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0" name="Google Shape;195;p2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1" name="Google Shape;196;p26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2" name="Google Shape;197;p26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346640" y="2467440"/>
            <a:ext cx="408312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4956120" y="102132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IN" sz="70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7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Google Shape;202;p2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6" name="Google Shape;203;p2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7" name="Google Shape;204;p27"/>
          <p:cNvCxnSpPr/>
          <p:nvPr/>
        </p:nvCxnSpPr>
        <p:spPr>
          <a:xfrm>
            <a:off x="-209520" y="2402280"/>
            <a:ext cx="3144240" cy="2790000"/>
          </a:xfrm>
          <a:prstGeom prst="curvedConnector3">
            <a:avLst>
              <a:gd name="adj1" fmla="val 50005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374000" y="944280"/>
            <a:ext cx="4009320" cy="64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IN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2295000" y="109656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en-IN" sz="70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7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Google Shape;209;p2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1" name="Google Shape;210;p2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2" name="Google Shape;211;p28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3" name="Google Shape;212;p28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4" name="Google Shape;213;p28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5" name="Google Shape;214;p28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43640" y="922680"/>
            <a:ext cx="3122640" cy="22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Google Shape;218;p2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8" name="Google Shape;219;p2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9" name="Google Shape;220;p29"/>
          <p:cNvCxnSpPr/>
          <p:nvPr/>
        </p:nvCxnSpPr>
        <p:spPr>
          <a:xfrm>
            <a:off x="5322600" y="-80280"/>
            <a:ext cx="4005360" cy="2007000"/>
          </a:xfrm>
          <a:prstGeom prst="curvedConnector3">
            <a:avLst>
              <a:gd name="adj1" fmla="val 50004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311080" y="962640"/>
            <a:ext cx="3122640" cy="22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Google Shape;224;p3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2" name="Google Shape;225;p3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3" name="Google Shape;226;p30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4" name="Google Shape;227;p30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5" name="Google Shape;228;p30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6" name="Google Shape;229;p30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711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713160" y="1272960"/>
            <a:ext cx="7717320" cy="32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Google Shape;26;p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0" name="Google Shape;27;p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1" name="Google Shape;28;p4"/>
          <p:cNvCxnSpPr/>
          <p:nvPr/>
        </p:nvCxnSpPr>
        <p:spPr>
          <a:xfrm>
            <a:off x="6884640" y="-113400"/>
            <a:ext cx="2566080" cy="1306080"/>
          </a:xfrm>
          <a:prstGeom prst="curvedConnector3">
            <a:avLst>
              <a:gd name="adj1" fmla="val 50007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Google Shape;238;p3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4" name="Google Shape;239;p3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44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Google Shape;254;p3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7" name="Google Shape;255;p3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8" name="Google Shape;256;p32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9" name="Google Shape;257;p32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Google Shape;272;p3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2" name="Google Shape;273;p3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Google Shape;286;p3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5" name="Google Shape;287;p3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6" name="Google Shape;288;p3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7" name="Google Shape;289;p34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16400" y="1073160"/>
            <a:ext cx="5640120" cy="285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9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Google Shape;292;p3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0" name="Google Shape;293;p3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1" name="Google Shape;294;p35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2" name="Google Shape;295;p35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3" name="Google Shape;296;p35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4" name="Google Shape;297;p35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64800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Google Shape;308;p3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7" name="Google Shape;309;p3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5173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Google Shape;318;p3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0" name="Google Shape;319;p3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1" name="Google Shape;320;p37"/>
          <p:cNvCxnSpPr/>
          <p:nvPr/>
        </p:nvCxnSpPr>
        <p:spPr>
          <a:xfrm>
            <a:off x="7434000" y="-125280"/>
            <a:ext cx="1993680" cy="13302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322;p3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3" name="Google Shape;323;p3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4" name="Google Shape;324;p38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5" name="Google Shape;325;p38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6" name="Google Shape;326;p38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7" name="Google Shape;327;p38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278028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title"/>
          </p:nvPr>
        </p:nvSpPr>
        <p:spPr>
          <a:xfrm>
            <a:off x="1351080" y="113148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title"/>
          </p:nvPr>
        </p:nvSpPr>
        <p:spPr>
          <a:xfrm>
            <a:off x="5306760" y="113148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title"/>
          </p:nvPr>
        </p:nvSpPr>
        <p:spPr>
          <a:xfrm>
            <a:off x="1351440" y="296460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title"/>
          </p:nvPr>
        </p:nvSpPr>
        <p:spPr>
          <a:xfrm>
            <a:off x="5306760" y="296460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38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31885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4" name="Google Shape;349;p3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5" name="Google Shape;350;p3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785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8" name="Google Shape;361;p4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9" name="Google Shape;362;p4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808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Google Shape;35;p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2" name="Google Shape;36;p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3" name="Google Shape;37;p5"/>
          <p:cNvCxnSpPr/>
          <p:nvPr/>
        </p:nvCxnSpPr>
        <p:spPr>
          <a:xfrm flipV="1" rot="10800000">
            <a:off x="6935400" y="3931200"/>
            <a:ext cx="2549880" cy="13546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364;p4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5" name="Google Shape;365;p4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6" name="Google Shape;366;p41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7" name="Google Shape;367;p41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8" name="Google Shape;368;p41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9" name="Google Shape;369;p41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593080" y="71460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45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2593080" y="206316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43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title"/>
          </p:nvPr>
        </p:nvSpPr>
        <p:spPr>
          <a:xfrm>
            <a:off x="2593080" y="341136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43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Google Shape;384;p4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5" name="Google Shape;385;p4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393;p4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7" name="Google Shape;394;p4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8" name="Google Shape;395;p43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9" name="Google Shape;396;p43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00" name="Google Shape;397;p43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732960" y="111456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IN" sz="45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title"/>
          </p:nvPr>
        </p:nvSpPr>
        <p:spPr>
          <a:xfrm>
            <a:off x="732960" y="350316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IN" sz="45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title"/>
          </p:nvPr>
        </p:nvSpPr>
        <p:spPr>
          <a:xfrm>
            <a:off x="4440960" y="227664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IN" sz="4500" strike="noStrike" u="non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b="0" lang="en-IN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03880" y="2040480"/>
            <a:ext cx="4087080" cy="6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Google Shape;404;p4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06" name="Google Shape;405;p4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490280" y="2047680"/>
            <a:ext cx="3363840" cy="6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8" name="Google Shape;409;p4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09" name="Google Shape;410;p4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5025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1" name="Google Shape;414;p4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2" name="Google Shape;415;p4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3" name="Google Shape;416;p46"/>
          <p:cNvCxnSpPr/>
          <p:nvPr/>
        </p:nvCxnSpPr>
        <p:spPr>
          <a:xfrm flipV="1" rot="10800000">
            <a:off x="6771600" y="3663360"/>
            <a:ext cx="2823840" cy="1633320"/>
          </a:xfrm>
          <a:prstGeom prst="curvedConnector3">
            <a:avLst>
              <a:gd name="adj1" fmla="val 49993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418;p4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5" name="Google Shape;419;p4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6" name="Google Shape;420;p47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7" name="Google Shape;421;p47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8" name="Google Shape;422;p47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9" name="Google Shape;423;p47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7288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2" name="Google Shape;433;p4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3" name="Google Shape;434;p4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244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Google Shape;443;p4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6" name="Google Shape;444;p4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7" name="Google Shape;445;p49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8" name="Google Shape;446;p49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2832840" y="791280"/>
            <a:ext cx="3477960" cy="9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IN" sz="7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7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450;p50"/>
          <p:cNvSpPr/>
          <p:nvPr/>
        </p:nvSpPr>
        <p:spPr>
          <a:xfrm>
            <a:off x="2900520" y="3438360"/>
            <a:ext cx="3342960" cy="7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CREDITS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: This presentation template was created by </a:t>
            </a:r>
            <a:r>
              <a:rPr b="1" lang="en" sz="1100" strike="noStrike" u="sng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2"/>
              </a:rPr>
              <a:t>Slidesgo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including icons by </a:t>
            </a:r>
            <a:r>
              <a:rPr b="1" lang="en" sz="1100" strike="noStrike" u="sng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3"/>
              </a:rPr>
              <a:t>Flaticon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infographics &amp; images by </a:t>
            </a:r>
            <a:r>
              <a:rPr b="1" lang="en" sz="1100" strike="noStrike" u="sng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4"/>
              </a:rPr>
              <a:t>Freepik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1" name="Google Shape;451;p5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2" name="Google Shape;452;p50"/>
          <p:cNvCxnSpPr/>
          <p:nvPr/>
        </p:nvCxnSpPr>
        <p:spPr>
          <a:xfrm>
            <a:off x="-257760" y="3935160"/>
            <a:ext cx="3047400" cy="13467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3" name="Google Shape;453;p5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4" name="Google Shape;454;p50"/>
          <p:cNvCxnSpPr/>
          <p:nvPr/>
        </p:nvCxnSpPr>
        <p:spPr>
          <a:xfrm>
            <a:off x="6467400" y="-72360"/>
            <a:ext cx="3047760" cy="1346400"/>
          </a:xfrm>
          <a:prstGeom prst="curvedConnector3">
            <a:avLst>
              <a:gd name="adj1" fmla="val 50005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Google Shape;40;p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7" name="Google Shape;41;p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456;p5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0" name="Google Shape;457;p5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459;p5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2" name="Google Shape;460;p5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3" name="Google Shape;461;p52"/>
          <p:cNvCxnSpPr/>
          <p:nvPr/>
        </p:nvCxnSpPr>
        <p:spPr>
          <a:xfrm>
            <a:off x="7434000" y="-125280"/>
            <a:ext cx="1993680" cy="13302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4" name="Google Shape;462;p52"/>
          <p:cNvCxnSpPr/>
          <p:nvPr/>
        </p:nvCxnSpPr>
        <p:spPr>
          <a:xfrm>
            <a:off x="-147240" y="3943440"/>
            <a:ext cx="1993320" cy="13305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464;p5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6" name="Google Shape;465;p5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7" name="Google Shape;466;p53"/>
          <p:cNvCxnSpPr/>
          <p:nvPr/>
        </p:nvCxnSpPr>
        <p:spPr>
          <a:xfrm flipV="1" rot="10800000">
            <a:off x="6771600" y="3663360"/>
            <a:ext cx="2823840" cy="1633320"/>
          </a:xfrm>
          <a:prstGeom prst="curvedConnector3">
            <a:avLst>
              <a:gd name="adj1" fmla="val 49993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468;p5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9" name="Google Shape;469;p5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0" name="Google Shape;470;p54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1" name="Google Shape;471;p5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2" name="Google Shape;472;p54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3" name="Google Shape;473;p54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2969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Google Shape;46;p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6" name="Google Shape;47;p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122480" y="1073160"/>
            <a:ext cx="6898680" cy="285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9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Google Shape;50;p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9" name="Google Shape;51;p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0" name="Google Shape;52;p8"/>
          <p:cNvCxnSpPr/>
          <p:nvPr/>
        </p:nvCxnSpPr>
        <p:spPr>
          <a:xfrm flipV="1" rot="10800000">
            <a:off x="7093080" y="3934800"/>
            <a:ext cx="2333160" cy="13474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1" name="Google Shape;53;p8"/>
          <p:cNvCxnSpPr/>
          <p:nvPr/>
        </p:nvCxnSpPr>
        <p:spPr>
          <a:xfrm flipV="1" rot="10800000">
            <a:off x="-420480" y="-121320"/>
            <a:ext cx="2332800" cy="1346760"/>
          </a:xfrm>
          <a:prstGeom prst="curvedConnector3">
            <a:avLst>
              <a:gd name="adj1" fmla="val 49992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3" name="Google Shape;57;p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4" name="Google Shape;58;p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5" name="Google Shape;59;p9"/>
          <p:cNvCxnSpPr/>
          <p:nvPr/>
        </p:nvCxnSpPr>
        <p:spPr>
          <a:xfrm flipV="1" rot="10800000">
            <a:off x="5924880" y="2796840"/>
            <a:ext cx="3378240" cy="246744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body"/>
          </p:nvPr>
        </p:nvSpPr>
        <p:spPr>
          <a:xfrm>
            <a:off x="713160" y="442080"/>
            <a:ext cx="3556800" cy="97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Google Shape;62;p1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8" name="Google Shape;63;p1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9" name="Google Shape;64;p10"/>
          <p:cNvCxnSpPr/>
          <p:nvPr/>
        </p:nvCxnSpPr>
        <p:spPr>
          <a:xfrm flipV="1">
            <a:off x="6144840" y="3103560"/>
            <a:ext cx="3118680" cy="220140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3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27120" y="1324440"/>
            <a:ext cx="80287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Vidaloka"/>
              </a:rPr>
              <a:t>Quick Ingest &amp; Exploratory Data Analysis</a:t>
            </a:r>
            <a:endParaRPr b="1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1040040" y="3377160"/>
            <a:ext cx="7063920" cy="4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5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The Foundation for Machine Learning on ATTEST Logs - Task-4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10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711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Vidaloka"/>
              </a:rPr>
              <a:t>Objective:</a:t>
            </a:r>
            <a:endParaRPr b="1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41240" y="1008720"/>
            <a:ext cx="7717320" cy="347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366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Roboto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Leverage historical execution patterns to automatically learn which test cases show recurring instability, anomaly behavior, or cluster-based failure trends.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Roboto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Predict the likelihood of failure before execution, enabling proactive identification of risky scenarios across DUTs, suites, and configurations.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Roboto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Rank and prioritize test cases intelligently so that high-risk tests run first, accelerating failure discovery and reducing overall regression cycle time.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Roboto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Optimize resource allocation &amp; execution sequencing by minimizing unnecessary runs of stable tests while emphasizing tests that contribute significant failure impact.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Roboto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Provide actionable insights through visual analytics, enabling engineers to understand key failure drivers, feature importance, and improvement areas for test planning.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189920" cy="61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Input Data &amp; Feature Engineering :</a:t>
            </a:r>
            <a:endParaRPr b="1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595080" y="900000"/>
            <a:ext cx="8224920" cy="277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=&gt; Used enriched historical datasets including classified logs, cluster labels, anomaly scores, and execution metadata from Tasks 1–3.</a:t>
            </a:r>
            <a:br>
              <a:rPr sz="1600"/>
            </a:b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=&gt; </a:t>
            </a: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Merged multi-source information (logs, DUT details, suite data, timestamps) to build a unified historical profile for every test case.</a:t>
            </a:r>
            <a:br>
              <a:rPr sz="1600"/>
            </a:b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=&gt; Computed test-case behavioral features such as past failure rate, execution frequency, time since last failure, and average duration.</a:t>
            </a:r>
            <a:br>
              <a:rPr sz="1600"/>
            </a:b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=&gt; </a:t>
            </a: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Added environment &amp; DUT-related signals including DUT type/version, suite configuration, regression group, and schedule cycle.</a:t>
            </a:r>
            <a:br>
              <a:rPr sz="1600"/>
            </a:b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=&gt; Extracted failure-specific insights such as cluster severity, error keywords, anomaly scores, and classifier confidence.</a:t>
            </a:r>
            <a:br>
              <a:rPr sz="1600"/>
            </a:b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Roboto"/>
              </a:rPr>
              <a:t>=&gt; Constructed a complete ML feature matrix combining numeric + categorical indicators to predict next-run failure probability.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" descr=""/>
          <p:cNvPicPr/>
          <p:nvPr/>
        </p:nvPicPr>
        <p:blipFill>
          <a:blip r:embed="rId1"/>
          <a:srcRect l="0" t="20743" r="11643" b="16220"/>
          <a:stretch/>
        </p:blipFill>
        <p:spPr>
          <a:xfrm>
            <a:off x="540000" y="342000"/>
            <a:ext cx="8100000" cy="199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" descr=""/>
          <p:cNvPicPr/>
          <p:nvPr/>
        </p:nvPicPr>
        <p:blipFill>
          <a:blip r:embed="rId2"/>
          <a:srcRect l="0" t="20743" r="3771" b="30236"/>
          <a:stretch/>
        </p:blipFill>
        <p:spPr>
          <a:xfrm>
            <a:off x="180000" y="2520000"/>
            <a:ext cx="8100000" cy="215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49720" y="39780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Vidaloka"/>
              </a:rPr>
              <a:t>ML Model Training (XGBoost) :</a:t>
            </a:r>
            <a:endParaRPr b="1" lang="en-IN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Google Shape;503;p59"/>
          <p:cNvSpPr/>
          <p:nvPr/>
        </p:nvSpPr>
        <p:spPr>
          <a:xfrm>
            <a:off x="720000" y="952560"/>
            <a:ext cx="8232480" cy="35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bIns="91440" anchor="t">
            <a:noAutofit/>
          </a:bodyPr>
          <a:p>
            <a:pPr marL="457200" indent="-33012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Selected XGBoost as the final model for its strong performance on tabular, heterogeneous test-execution data (numeric + categorical + engineered features).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Trained on enriched historical logs combining cluster labels, anomaly signals, classifier outputs, execution metadata, and test-case behavior features.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Automatically learned complex interactions such as: “recent failures + high anomaly score + certain DUT versions ⇒ high risk of failure.”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Tuned key hyperparameters (max_depth, learning_rate, n_estimators) to optimize Top-K failure capture, not just overall accuracy.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The trained model outputs a continuous failure probability for every test case, enabling dynamic prioritization before the next execution cycle.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10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" descr=""/>
          <p:cNvPicPr/>
          <p:nvPr/>
        </p:nvPicPr>
        <p:blipFill>
          <a:blip r:embed="rId1"/>
          <a:srcRect l="21424" t="41752" r="41171" b="5719"/>
          <a:stretch/>
        </p:blipFill>
        <p:spPr>
          <a:xfrm>
            <a:off x="540000" y="360000"/>
            <a:ext cx="3779640" cy="19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" descr=""/>
          <p:cNvPicPr/>
          <p:nvPr/>
        </p:nvPicPr>
        <p:blipFill>
          <a:blip r:embed="rId2"/>
          <a:stretch/>
        </p:blipFill>
        <p:spPr>
          <a:xfrm>
            <a:off x="4604040" y="394920"/>
            <a:ext cx="4110120" cy="194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" descr=""/>
          <p:cNvPicPr/>
          <p:nvPr/>
        </p:nvPicPr>
        <p:blipFill>
          <a:blip r:embed="rId3"/>
          <a:srcRect l="0" t="22827" r="20458" b="14370"/>
          <a:stretch/>
        </p:blipFill>
        <p:spPr>
          <a:xfrm>
            <a:off x="540000" y="2520000"/>
            <a:ext cx="8100000" cy="21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02680" y="18000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Vidaloka"/>
              </a:rPr>
              <a:t>Model Evaluation Metrics:</a:t>
            </a:r>
            <a:endParaRPr b="1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Google Shape;509;p60"/>
          <p:cNvSpPr/>
          <p:nvPr/>
        </p:nvSpPr>
        <p:spPr>
          <a:xfrm>
            <a:off x="197280" y="720000"/>
            <a:ext cx="4842720" cy="25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366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Confusion Matrix to compare predicted vs actual failures.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Precision, Recall, F1-score to measure classifier quality.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ROC–AUC curve to evaluate probability separation.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Calibration curve to verify prediction reliability.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3366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●"/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Top-K accuracy: “Top 20 tests capture X% of failures.”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5940000" y="360000"/>
            <a:ext cx="2700000" cy="177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" descr=""/>
          <p:cNvPicPr/>
          <p:nvPr/>
        </p:nvPicPr>
        <p:blipFill>
          <a:blip r:embed="rId2"/>
          <a:stretch/>
        </p:blipFill>
        <p:spPr>
          <a:xfrm>
            <a:off x="7200000" y="2311920"/>
            <a:ext cx="1865160" cy="25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3"/>
          <a:stretch/>
        </p:blipFill>
        <p:spPr>
          <a:xfrm>
            <a:off x="5040000" y="2340000"/>
            <a:ext cx="1980000" cy="25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4"/>
          <a:srcRect l="21424" t="55758" r="19517" b="5719"/>
          <a:stretch/>
        </p:blipFill>
        <p:spPr>
          <a:xfrm>
            <a:off x="540000" y="3240000"/>
            <a:ext cx="4140000" cy="16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-4320000" y="284760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Vidaloka"/>
              </a:rPr>
              <a:t>Prioritization Logic:</a:t>
            </a:r>
            <a:endParaRPr b="1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Google Shape;515;p61"/>
          <p:cNvSpPr/>
          <p:nvPr/>
        </p:nvSpPr>
        <p:spPr>
          <a:xfrm>
            <a:off x="486000" y="1158840"/>
            <a:ext cx="8154000" cy="35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=&gt; Priority Score Formula: Failure Probability × Cluster Severity × Recent Failure Weight.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=&gt; Failure probability comes from the ML model predicting how likely a test is to fail.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=&gt; Cluster severity boosts priority for tests belonging to high-impact failure clusters.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=&gt; Recent failure weight increases scores for tests that failed in the latest cycles.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=&gt; Risk Bucketing: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          Tests are classified into High , Medium , Low risk groups to decide execution order.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20000" y="540000"/>
            <a:ext cx="396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IN" sz="2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Prioritization Logic :</a:t>
            </a:r>
            <a:endParaRPr b="1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" descr=""/>
          <p:cNvPicPr/>
          <p:nvPr/>
        </p:nvPicPr>
        <p:blipFill>
          <a:blip r:embed="rId1"/>
          <a:srcRect l="0" t="20541" r="19517" b="19926"/>
          <a:stretch/>
        </p:blipFill>
        <p:spPr>
          <a:xfrm rot="21599400">
            <a:off x="69480" y="451800"/>
            <a:ext cx="4541040" cy="188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" descr=""/>
          <p:cNvPicPr/>
          <p:nvPr/>
        </p:nvPicPr>
        <p:blipFill>
          <a:blip r:embed="rId2"/>
          <a:srcRect l="0" t="20743" r="9676" b="16220"/>
          <a:stretch/>
        </p:blipFill>
        <p:spPr>
          <a:xfrm>
            <a:off x="4677480" y="445680"/>
            <a:ext cx="4322520" cy="189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" descr=""/>
          <p:cNvPicPr/>
          <p:nvPr/>
        </p:nvPicPr>
        <p:blipFill>
          <a:blip r:embed="rId3"/>
          <a:srcRect l="0" t="22827" r="9676" b="14370"/>
          <a:stretch/>
        </p:blipFill>
        <p:spPr>
          <a:xfrm>
            <a:off x="1080000" y="2520000"/>
            <a:ext cx="7380000" cy="19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348840" y="372960"/>
            <a:ext cx="50616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Vidaloka"/>
              </a:rPr>
              <a:t>Visualization Dashboard: </a:t>
            </a:r>
            <a:endParaRPr b="1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20000" y="1080000"/>
            <a:ext cx="774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=&gt; Failure Risk Heatmap: Shows risk levels across Test Case × DUT, helping identify devices or modules with consistently high failure probability.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=&gt; Probability Distribution Curve: Displays how failure probabilities are spread across all test cases, highlighting clusters of high-risk tests.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=&gt; Top 10 High-Risk Tests (Bar Chart): Ranks the most failure-prone test cases, enabling quick selection for early execution.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=&gt; Suite-Wise Failure Trend Line: Tracks how failure behaviour changes across multiple execution cycles, revealing unstable suites.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=&gt; Feature Importance Plot (XGBoost): Explains which engineered features most influence the failure prediction, improving model transparency.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360000" y="451440"/>
            <a:ext cx="4500000" cy="422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" descr=""/>
          <p:cNvPicPr/>
          <p:nvPr/>
        </p:nvPicPr>
        <p:blipFill>
          <a:blip r:embed="rId2"/>
          <a:stretch/>
        </p:blipFill>
        <p:spPr>
          <a:xfrm>
            <a:off x="5040000" y="451440"/>
            <a:ext cx="3780000" cy="20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" descr=""/>
          <p:cNvPicPr/>
          <p:nvPr/>
        </p:nvPicPr>
        <p:blipFill>
          <a:blip r:embed="rId3"/>
          <a:stretch/>
        </p:blipFill>
        <p:spPr>
          <a:xfrm>
            <a:off x="5040000" y="2607840"/>
            <a:ext cx="3780000" cy="207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527;p63"/>
          <p:cNvSpPr/>
          <p:nvPr/>
        </p:nvSpPr>
        <p:spPr>
          <a:xfrm>
            <a:off x="2327040" y="1725120"/>
            <a:ext cx="4692960" cy="12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7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Vidaloka"/>
              </a:rPr>
              <a:t>Thank You</a:t>
            </a:r>
            <a:endParaRPr b="1" lang="en-IN" sz="7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2025-11-20T17:36:24Z</dcterms:modified>
  <cp:revision>2</cp:revision>
  <dc:subject/>
  <dc:title/>
</cp:coreProperties>
</file>