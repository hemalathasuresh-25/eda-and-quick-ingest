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3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object 16" hidden="1"/>
          <p:cNvSpPr/>
          <p:nvPr/>
        </p:nvSpPr>
        <p:spPr>
          <a:xfrm>
            <a:off x="0" y="0"/>
            <a:ext cx="9143280" cy="514296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5142960"/>
              <a:gd name="textAreaBottom" fmla="*/ 5143680 h 5142960"/>
            </a:gdLst>
            <a:ahLst/>
            <a:cxnLst/>
            <a:rect l="textAreaLeft" t="textAreaTop" r="textAreaRight" b="textAreaBottom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4F1E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bg object 17" hidden="1"/>
          <p:cNvSpPr/>
          <p:nvPr/>
        </p:nvSpPr>
        <p:spPr>
          <a:xfrm>
            <a:off x="0" y="25992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bg object 18" hidden="1"/>
          <p:cNvSpPr/>
          <p:nvPr/>
        </p:nvSpPr>
        <p:spPr>
          <a:xfrm>
            <a:off x="0" y="486324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bg object 16"/>
          <p:cNvSpPr/>
          <p:nvPr/>
        </p:nvSpPr>
        <p:spPr>
          <a:xfrm>
            <a:off x="0" y="0"/>
            <a:ext cx="9143280" cy="514296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5142960"/>
              <a:gd name="textAreaBottom" fmla="*/ 5143680 h 5142960"/>
            </a:gdLst>
            <a:ahLst/>
            <a:cxnLst/>
            <a:rect l="textAreaLeft" t="textAreaTop" r="textAreaRight" b="textAreaBottom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4F1E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bg object 17"/>
          <p:cNvSpPr/>
          <p:nvPr/>
        </p:nvSpPr>
        <p:spPr>
          <a:xfrm>
            <a:off x="0" y="25992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bg object 18"/>
          <p:cNvSpPr/>
          <p:nvPr/>
        </p:nvSpPr>
        <p:spPr>
          <a:xfrm>
            <a:off x="0" y="0"/>
            <a:ext cx="2228040" cy="1259280"/>
          </a:xfrm>
          <a:custGeom>
            <a:avLst/>
            <a:gdLst>
              <a:gd name="textAreaLeft" fmla="*/ 0 w 2228040"/>
              <a:gd name="textAreaRight" fmla="*/ 2228760 w 2228040"/>
              <a:gd name="textAreaTop" fmla="*/ 0 h 1259280"/>
              <a:gd name="textAreaBottom" fmla="*/ 1260000 h 1259280"/>
            </a:gdLst>
            <a:ahLst/>
            <a:cxnLst/>
            <a:rect l="textAreaLeft" t="textAreaTop" r="textAreaRight" b="textAreaBottom"/>
            <a:pathLst>
              <a:path w="2228850" h="1259840">
                <a:moveTo>
                  <a:pt x="2228317" y="0"/>
                </a:moveTo>
                <a:lnTo>
                  <a:pt x="2172162" y="16744"/>
                </a:lnTo>
                <a:lnTo>
                  <a:pt x="2124789" y="32586"/>
                </a:lnTo>
                <a:lnTo>
                  <a:pt x="2078643" y="49513"/>
                </a:lnTo>
                <a:lnTo>
                  <a:pt x="2033669" y="67475"/>
                </a:lnTo>
                <a:lnTo>
                  <a:pt x="1989815" y="86427"/>
                </a:lnTo>
                <a:lnTo>
                  <a:pt x="1947027" y="106321"/>
                </a:lnTo>
                <a:lnTo>
                  <a:pt x="1905252" y="127109"/>
                </a:lnTo>
                <a:lnTo>
                  <a:pt x="1864436" y="148746"/>
                </a:lnTo>
                <a:lnTo>
                  <a:pt x="1824527" y="171183"/>
                </a:lnTo>
                <a:lnTo>
                  <a:pt x="1785471" y="194374"/>
                </a:lnTo>
                <a:lnTo>
                  <a:pt x="1747214" y="218272"/>
                </a:lnTo>
                <a:lnTo>
                  <a:pt x="1709703" y="242829"/>
                </a:lnTo>
                <a:lnTo>
                  <a:pt x="1672886" y="267998"/>
                </a:lnTo>
                <a:lnTo>
                  <a:pt x="1636708" y="293733"/>
                </a:lnTo>
                <a:lnTo>
                  <a:pt x="1601116" y="319986"/>
                </a:lnTo>
                <a:lnTo>
                  <a:pt x="1566058" y="346710"/>
                </a:lnTo>
                <a:lnTo>
                  <a:pt x="1531479" y="373858"/>
                </a:lnTo>
                <a:lnTo>
                  <a:pt x="1497327" y="401382"/>
                </a:lnTo>
                <a:lnTo>
                  <a:pt x="1463548" y="429237"/>
                </a:lnTo>
                <a:lnTo>
                  <a:pt x="1430089" y="457374"/>
                </a:lnTo>
                <a:lnTo>
                  <a:pt x="1396896" y="485746"/>
                </a:lnTo>
                <a:lnTo>
                  <a:pt x="1363917" y="514307"/>
                </a:lnTo>
                <a:lnTo>
                  <a:pt x="1331097" y="543009"/>
                </a:lnTo>
                <a:lnTo>
                  <a:pt x="1298384" y="571806"/>
                </a:lnTo>
                <a:lnTo>
                  <a:pt x="1265724" y="600649"/>
                </a:lnTo>
                <a:lnTo>
                  <a:pt x="1233065" y="629493"/>
                </a:lnTo>
                <a:lnTo>
                  <a:pt x="1200352" y="658290"/>
                </a:lnTo>
                <a:lnTo>
                  <a:pt x="1167532" y="686992"/>
                </a:lnTo>
                <a:lnTo>
                  <a:pt x="1134553" y="715553"/>
                </a:lnTo>
                <a:lnTo>
                  <a:pt x="1101360" y="743925"/>
                </a:lnTo>
                <a:lnTo>
                  <a:pt x="1067901" y="772062"/>
                </a:lnTo>
                <a:lnTo>
                  <a:pt x="1034122" y="799917"/>
                </a:lnTo>
                <a:lnTo>
                  <a:pt x="999970" y="827441"/>
                </a:lnTo>
                <a:lnTo>
                  <a:pt x="965391" y="854589"/>
                </a:lnTo>
                <a:lnTo>
                  <a:pt x="930333" y="881313"/>
                </a:lnTo>
                <a:lnTo>
                  <a:pt x="894741" y="907566"/>
                </a:lnTo>
                <a:lnTo>
                  <a:pt x="858563" y="933301"/>
                </a:lnTo>
                <a:lnTo>
                  <a:pt x="821746" y="958470"/>
                </a:lnTo>
                <a:lnTo>
                  <a:pt x="784235" y="983027"/>
                </a:lnTo>
                <a:lnTo>
                  <a:pt x="745978" y="1006925"/>
                </a:lnTo>
                <a:lnTo>
                  <a:pt x="706922" y="1030116"/>
                </a:lnTo>
                <a:lnTo>
                  <a:pt x="667013" y="1052553"/>
                </a:lnTo>
                <a:lnTo>
                  <a:pt x="626197" y="1074190"/>
                </a:lnTo>
                <a:lnTo>
                  <a:pt x="584422" y="1094978"/>
                </a:lnTo>
                <a:lnTo>
                  <a:pt x="541634" y="1114872"/>
                </a:lnTo>
                <a:lnTo>
                  <a:pt x="497780" y="1133824"/>
                </a:lnTo>
                <a:lnTo>
                  <a:pt x="452806" y="1151786"/>
                </a:lnTo>
                <a:lnTo>
                  <a:pt x="406660" y="1168713"/>
                </a:lnTo>
                <a:lnTo>
                  <a:pt x="359287" y="1184555"/>
                </a:lnTo>
                <a:lnTo>
                  <a:pt x="310636" y="1199268"/>
                </a:lnTo>
                <a:lnTo>
                  <a:pt x="260651" y="1212802"/>
                </a:lnTo>
                <a:lnTo>
                  <a:pt x="209281" y="1225112"/>
                </a:lnTo>
                <a:lnTo>
                  <a:pt x="156471" y="1236150"/>
                </a:lnTo>
                <a:lnTo>
                  <a:pt x="102169" y="1245869"/>
                </a:lnTo>
                <a:lnTo>
                  <a:pt x="46320" y="1254223"/>
                </a:lnTo>
                <a:lnTo>
                  <a:pt x="0" y="1259819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bg object 19"/>
          <p:cNvSpPr/>
          <p:nvPr/>
        </p:nvSpPr>
        <p:spPr>
          <a:xfrm>
            <a:off x="0" y="486324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bg object 20"/>
          <p:cNvSpPr/>
          <p:nvPr/>
        </p:nvSpPr>
        <p:spPr>
          <a:xfrm>
            <a:off x="7218720" y="3965400"/>
            <a:ext cx="1924560" cy="1177920"/>
          </a:xfrm>
          <a:custGeom>
            <a:avLst/>
            <a:gdLst>
              <a:gd name="textAreaLeft" fmla="*/ 0 w 1924560"/>
              <a:gd name="textAreaRight" fmla="*/ 1925280 w 1924560"/>
              <a:gd name="textAreaTop" fmla="*/ 0 h 1177920"/>
              <a:gd name="textAreaBottom" fmla="*/ 1178640 h 1177920"/>
            </a:gdLst>
            <a:ahLst/>
            <a:cxnLst/>
            <a:rect l="textAreaLeft" t="textAreaTop" r="textAreaRight" b="textAreaBottom"/>
            <a:pathLst>
              <a:path w="1925320" h="1178560">
                <a:moveTo>
                  <a:pt x="1925177" y="0"/>
                </a:moveTo>
                <a:lnTo>
                  <a:pt x="1881581" y="7803"/>
                </a:lnTo>
                <a:lnTo>
                  <a:pt x="1828771" y="18841"/>
                </a:lnTo>
                <a:lnTo>
                  <a:pt x="1777401" y="31151"/>
                </a:lnTo>
                <a:lnTo>
                  <a:pt x="1727416" y="44685"/>
                </a:lnTo>
                <a:lnTo>
                  <a:pt x="1678765" y="59398"/>
                </a:lnTo>
                <a:lnTo>
                  <a:pt x="1631392" y="75240"/>
                </a:lnTo>
                <a:lnTo>
                  <a:pt x="1585246" y="92166"/>
                </a:lnTo>
                <a:lnTo>
                  <a:pt x="1540272" y="110129"/>
                </a:lnTo>
                <a:lnTo>
                  <a:pt x="1496418" y="129081"/>
                </a:lnTo>
                <a:lnTo>
                  <a:pt x="1453630" y="148974"/>
                </a:lnTo>
                <a:lnTo>
                  <a:pt x="1411855" y="169763"/>
                </a:lnTo>
                <a:lnTo>
                  <a:pt x="1371039" y="191400"/>
                </a:lnTo>
                <a:lnTo>
                  <a:pt x="1331130" y="213837"/>
                </a:lnTo>
                <a:lnTo>
                  <a:pt x="1292073" y="237028"/>
                </a:lnTo>
                <a:lnTo>
                  <a:pt x="1253817" y="260926"/>
                </a:lnTo>
                <a:lnTo>
                  <a:pt x="1216306" y="285483"/>
                </a:lnTo>
                <a:lnTo>
                  <a:pt x="1179488" y="310652"/>
                </a:lnTo>
                <a:lnTo>
                  <a:pt x="1143311" y="336387"/>
                </a:lnTo>
                <a:lnTo>
                  <a:pt x="1107719" y="362640"/>
                </a:lnTo>
                <a:lnTo>
                  <a:pt x="1072661" y="389364"/>
                </a:lnTo>
                <a:lnTo>
                  <a:pt x="1038082" y="416511"/>
                </a:lnTo>
                <a:lnTo>
                  <a:pt x="1003930" y="444036"/>
                </a:lnTo>
                <a:lnTo>
                  <a:pt x="970151" y="471891"/>
                </a:lnTo>
                <a:lnTo>
                  <a:pt x="936692" y="500028"/>
                </a:lnTo>
                <a:lnTo>
                  <a:pt x="903499" y="528400"/>
                </a:lnTo>
                <a:lnTo>
                  <a:pt x="870519" y="556961"/>
                </a:lnTo>
                <a:lnTo>
                  <a:pt x="837700" y="585663"/>
                </a:lnTo>
                <a:lnTo>
                  <a:pt x="804987" y="614460"/>
                </a:lnTo>
                <a:lnTo>
                  <a:pt x="772327" y="643303"/>
                </a:lnTo>
                <a:lnTo>
                  <a:pt x="739668" y="672147"/>
                </a:lnTo>
                <a:lnTo>
                  <a:pt x="706955" y="700943"/>
                </a:lnTo>
                <a:lnTo>
                  <a:pt x="674135" y="729646"/>
                </a:lnTo>
                <a:lnTo>
                  <a:pt x="641156" y="758207"/>
                </a:lnTo>
                <a:lnTo>
                  <a:pt x="607963" y="786579"/>
                </a:lnTo>
                <a:lnTo>
                  <a:pt x="574504" y="814716"/>
                </a:lnTo>
                <a:lnTo>
                  <a:pt x="540725" y="842571"/>
                </a:lnTo>
                <a:lnTo>
                  <a:pt x="506573" y="870095"/>
                </a:lnTo>
                <a:lnTo>
                  <a:pt x="471994" y="897243"/>
                </a:lnTo>
                <a:lnTo>
                  <a:pt x="436936" y="923967"/>
                </a:lnTo>
                <a:lnTo>
                  <a:pt x="401344" y="950220"/>
                </a:lnTo>
                <a:lnTo>
                  <a:pt x="365166" y="975954"/>
                </a:lnTo>
                <a:lnTo>
                  <a:pt x="328349" y="1001124"/>
                </a:lnTo>
                <a:lnTo>
                  <a:pt x="290838" y="1025681"/>
                </a:lnTo>
                <a:lnTo>
                  <a:pt x="252581" y="1049579"/>
                </a:lnTo>
                <a:lnTo>
                  <a:pt x="213525" y="1072770"/>
                </a:lnTo>
                <a:lnTo>
                  <a:pt x="173615" y="1095207"/>
                </a:lnTo>
                <a:lnTo>
                  <a:pt x="132800" y="1116844"/>
                </a:lnTo>
                <a:lnTo>
                  <a:pt x="91025" y="1137632"/>
                </a:lnTo>
                <a:lnTo>
                  <a:pt x="48237" y="1157526"/>
                </a:lnTo>
                <a:lnTo>
                  <a:pt x="4383" y="1176478"/>
                </a:lnTo>
                <a:lnTo>
                  <a:pt x="0" y="1178228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84440" y="1605240"/>
            <a:ext cx="77086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ftr" idx="1"/>
          </p:nvPr>
        </p:nvSpPr>
        <p:spPr>
          <a:xfrm>
            <a:off x="3108960" y="4783320"/>
            <a:ext cx="292536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2" name="PlaceHolder 3"/>
          <p:cNvSpPr>
            <a:spLocks noGrp="1"/>
          </p:cNvSpPr>
          <p:nvPr>
            <p:ph type="dt" idx="2"/>
          </p:nvPr>
        </p:nvSpPr>
        <p:spPr>
          <a:xfrm>
            <a:off x="457200" y="4783320"/>
            <a:ext cx="210240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3"/>
          </p:nvPr>
        </p:nvSpPr>
        <p:spPr>
          <a:xfrm>
            <a:off x="6583680" y="4783320"/>
            <a:ext cx="210240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E5C0A77-85B4-4614-A69A-6F5567E31397}" type="slidenum">
              <a: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g object 16"/>
          <p:cNvSpPr/>
          <p:nvPr/>
        </p:nvSpPr>
        <p:spPr>
          <a:xfrm>
            <a:off x="0" y="0"/>
            <a:ext cx="9143280" cy="514296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5142960"/>
              <a:gd name="textAreaBottom" fmla="*/ 5143680 h 5142960"/>
            </a:gdLst>
            <a:ahLst/>
            <a:cxnLst/>
            <a:rect l="textAreaLeft" t="textAreaTop" r="textAreaRight" b="textAreaBottom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4F1E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bg object 17"/>
          <p:cNvSpPr/>
          <p:nvPr/>
        </p:nvSpPr>
        <p:spPr>
          <a:xfrm>
            <a:off x="0" y="25992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bg object 18"/>
          <p:cNvSpPr/>
          <p:nvPr/>
        </p:nvSpPr>
        <p:spPr>
          <a:xfrm>
            <a:off x="0" y="486324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59080" y="439920"/>
            <a:ext cx="6669720" cy="54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69960" y="1369080"/>
            <a:ext cx="7688520" cy="261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4"/>
          </p:nvPr>
        </p:nvSpPr>
        <p:spPr>
          <a:xfrm>
            <a:off x="3108960" y="4783320"/>
            <a:ext cx="292536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5"/>
          </p:nvPr>
        </p:nvSpPr>
        <p:spPr>
          <a:xfrm>
            <a:off x="457200" y="4783320"/>
            <a:ext cx="210240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6"/>
          </p:nvPr>
        </p:nvSpPr>
        <p:spPr>
          <a:xfrm>
            <a:off x="6583680" y="4783320"/>
            <a:ext cx="210240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B09C579-8845-4C5D-801B-12155206B601}" type="slidenum">
              <a: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g object 16" hidden="1"/>
          <p:cNvSpPr/>
          <p:nvPr/>
        </p:nvSpPr>
        <p:spPr>
          <a:xfrm>
            <a:off x="0" y="0"/>
            <a:ext cx="9143280" cy="514296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5142960"/>
              <a:gd name="textAreaBottom" fmla="*/ 5143680 h 5142960"/>
            </a:gdLst>
            <a:ahLst/>
            <a:cxnLst/>
            <a:rect l="textAreaLeft" t="textAreaTop" r="textAreaRight" b="textAreaBottom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4F1E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bg object 17" hidden="1"/>
          <p:cNvSpPr/>
          <p:nvPr/>
        </p:nvSpPr>
        <p:spPr>
          <a:xfrm>
            <a:off x="0" y="25992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bg object 18" hidden="1"/>
          <p:cNvSpPr/>
          <p:nvPr/>
        </p:nvSpPr>
        <p:spPr>
          <a:xfrm>
            <a:off x="0" y="486324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bg object 16"/>
          <p:cNvSpPr/>
          <p:nvPr/>
        </p:nvSpPr>
        <p:spPr>
          <a:xfrm>
            <a:off x="0" y="0"/>
            <a:ext cx="9143280" cy="514296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5142960"/>
              <a:gd name="textAreaBottom" fmla="*/ 5143680 h 5142960"/>
            </a:gdLst>
            <a:ahLst/>
            <a:cxnLst/>
            <a:rect l="textAreaLeft" t="textAreaTop" r="textAreaRight" b="textAreaBottom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4F1E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bg object 17"/>
          <p:cNvSpPr/>
          <p:nvPr/>
        </p:nvSpPr>
        <p:spPr>
          <a:xfrm>
            <a:off x="0" y="25992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bg object 18"/>
          <p:cNvSpPr/>
          <p:nvPr/>
        </p:nvSpPr>
        <p:spPr>
          <a:xfrm>
            <a:off x="0" y="486324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bg object 19"/>
          <p:cNvSpPr/>
          <p:nvPr/>
        </p:nvSpPr>
        <p:spPr>
          <a:xfrm>
            <a:off x="0" y="4106160"/>
            <a:ext cx="1249560" cy="1036800"/>
          </a:xfrm>
          <a:custGeom>
            <a:avLst/>
            <a:gdLst>
              <a:gd name="textAreaLeft" fmla="*/ 0 w 1249560"/>
              <a:gd name="textAreaRight" fmla="*/ 1250280 w 1249560"/>
              <a:gd name="textAreaTop" fmla="*/ 0 h 1036800"/>
              <a:gd name="textAreaBottom" fmla="*/ 1037520 h 1036800"/>
            </a:gdLst>
            <a:ahLst/>
            <a:cxnLst/>
            <a:rect l="textAreaLeft" t="textAreaTop" r="textAreaRight" b="textAreaBottom"/>
            <a:pathLst>
              <a:path w="1250315" h="1037589">
                <a:moveTo>
                  <a:pt x="0" y="0"/>
                </a:moveTo>
                <a:lnTo>
                  <a:pt x="69670" y="20060"/>
                </a:lnTo>
                <a:lnTo>
                  <a:pt x="115790" y="37046"/>
                </a:lnTo>
                <a:lnTo>
                  <a:pt x="160133" y="56174"/>
                </a:lnTo>
                <a:lnTo>
                  <a:pt x="202803" y="77317"/>
                </a:lnTo>
                <a:lnTo>
                  <a:pt x="243905" y="100349"/>
                </a:lnTo>
                <a:lnTo>
                  <a:pt x="283544" y="125146"/>
                </a:lnTo>
                <a:lnTo>
                  <a:pt x="321823" y="151580"/>
                </a:lnTo>
                <a:lnTo>
                  <a:pt x="358848" y="179526"/>
                </a:lnTo>
                <a:lnTo>
                  <a:pt x="394723" y="208857"/>
                </a:lnTo>
                <a:lnTo>
                  <a:pt x="429552" y="239448"/>
                </a:lnTo>
                <a:lnTo>
                  <a:pt x="463441" y="271174"/>
                </a:lnTo>
                <a:lnTo>
                  <a:pt x="496494" y="303906"/>
                </a:lnTo>
                <a:lnTo>
                  <a:pt x="528814" y="337521"/>
                </a:lnTo>
                <a:lnTo>
                  <a:pt x="560507" y="371892"/>
                </a:lnTo>
                <a:lnTo>
                  <a:pt x="591678" y="406892"/>
                </a:lnTo>
                <a:lnTo>
                  <a:pt x="622431" y="442397"/>
                </a:lnTo>
                <a:lnTo>
                  <a:pt x="652869" y="478279"/>
                </a:lnTo>
                <a:lnTo>
                  <a:pt x="683099" y="514413"/>
                </a:lnTo>
                <a:lnTo>
                  <a:pt x="713224" y="550674"/>
                </a:lnTo>
                <a:lnTo>
                  <a:pt x="743350" y="586934"/>
                </a:lnTo>
                <a:lnTo>
                  <a:pt x="773580" y="623068"/>
                </a:lnTo>
                <a:lnTo>
                  <a:pt x="804018" y="658950"/>
                </a:lnTo>
                <a:lnTo>
                  <a:pt x="834771" y="694455"/>
                </a:lnTo>
                <a:lnTo>
                  <a:pt x="865941" y="729455"/>
                </a:lnTo>
                <a:lnTo>
                  <a:pt x="897635" y="763826"/>
                </a:lnTo>
                <a:lnTo>
                  <a:pt x="929955" y="797441"/>
                </a:lnTo>
                <a:lnTo>
                  <a:pt x="963008" y="830174"/>
                </a:lnTo>
                <a:lnTo>
                  <a:pt x="996897" y="861899"/>
                </a:lnTo>
                <a:lnTo>
                  <a:pt x="1031726" y="892490"/>
                </a:lnTo>
                <a:lnTo>
                  <a:pt x="1067601" y="921821"/>
                </a:lnTo>
                <a:lnTo>
                  <a:pt x="1104626" y="949767"/>
                </a:lnTo>
                <a:lnTo>
                  <a:pt x="1142905" y="976201"/>
                </a:lnTo>
                <a:lnTo>
                  <a:pt x="1182544" y="1000998"/>
                </a:lnTo>
                <a:lnTo>
                  <a:pt x="1223646" y="1024030"/>
                </a:lnTo>
                <a:lnTo>
                  <a:pt x="1250272" y="1037224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bg object 20"/>
          <p:cNvSpPr/>
          <p:nvPr/>
        </p:nvSpPr>
        <p:spPr>
          <a:xfrm>
            <a:off x="7756200" y="0"/>
            <a:ext cx="1387440" cy="1089000"/>
          </a:xfrm>
          <a:custGeom>
            <a:avLst/>
            <a:gdLst>
              <a:gd name="textAreaLeft" fmla="*/ 0 w 1387440"/>
              <a:gd name="textAreaRight" fmla="*/ 1388160 w 1387440"/>
              <a:gd name="textAreaTop" fmla="*/ 0 h 1089000"/>
              <a:gd name="textAreaBottom" fmla="*/ 1089720 h 1089000"/>
            </a:gdLst>
            <a:ahLst/>
            <a:cxnLst/>
            <a:rect l="textAreaLeft" t="textAreaTop" r="textAreaRight" b="textAreaBottom"/>
            <a:pathLst>
              <a:path w="1388109" h="1089660">
                <a:moveTo>
                  <a:pt x="0" y="0"/>
                </a:moveTo>
                <a:lnTo>
                  <a:pt x="51050" y="18497"/>
                </a:lnTo>
                <a:lnTo>
                  <a:pt x="95393" y="37624"/>
                </a:lnTo>
                <a:lnTo>
                  <a:pt x="138063" y="58768"/>
                </a:lnTo>
                <a:lnTo>
                  <a:pt x="179165" y="81800"/>
                </a:lnTo>
                <a:lnTo>
                  <a:pt x="218803" y="106597"/>
                </a:lnTo>
                <a:lnTo>
                  <a:pt x="257083" y="133031"/>
                </a:lnTo>
                <a:lnTo>
                  <a:pt x="294108" y="160977"/>
                </a:lnTo>
                <a:lnTo>
                  <a:pt x="329983" y="190308"/>
                </a:lnTo>
                <a:lnTo>
                  <a:pt x="364812" y="220899"/>
                </a:lnTo>
                <a:lnTo>
                  <a:pt x="398701" y="252624"/>
                </a:lnTo>
                <a:lnTo>
                  <a:pt x="431753" y="285357"/>
                </a:lnTo>
                <a:lnTo>
                  <a:pt x="464074" y="318972"/>
                </a:lnTo>
                <a:lnTo>
                  <a:pt x="495767" y="353343"/>
                </a:lnTo>
                <a:lnTo>
                  <a:pt x="526938" y="388343"/>
                </a:lnTo>
                <a:lnTo>
                  <a:pt x="557690" y="423848"/>
                </a:lnTo>
                <a:lnTo>
                  <a:pt x="588129" y="459730"/>
                </a:lnTo>
                <a:lnTo>
                  <a:pt x="618359" y="495864"/>
                </a:lnTo>
                <a:lnTo>
                  <a:pt x="648484" y="532124"/>
                </a:lnTo>
                <a:lnTo>
                  <a:pt x="678610" y="568385"/>
                </a:lnTo>
                <a:lnTo>
                  <a:pt x="708839" y="604519"/>
                </a:lnTo>
                <a:lnTo>
                  <a:pt x="739278" y="640401"/>
                </a:lnTo>
                <a:lnTo>
                  <a:pt x="770031" y="675906"/>
                </a:lnTo>
                <a:lnTo>
                  <a:pt x="801201" y="710906"/>
                </a:lnTo>
                <a:lnTo>
                  <a:pt x="832895" y="745277"/>
                </a:lnTo>
                <a:lnTo>
                  <a:pt x="865215" y="778892"/>
                </a:lnTo>
                <a:lnTo>
                  <a:pt x="898268" y="811624"/>
                </a:lnTo>
                <a:lnTo>
                  <a:pt x="932156" y="843350"/>
                </a:lnTo>
                <a:lnTo>
                  <a:pt x="966986" y="873941"/>
                </a:lnTo>
                <a:lnTo>
                  <a:pt x="1002861" y="903272"/>
                </a:lnTo>
                <a:lnTo>
                  <a:pt x="1039886" y="931218"/>
                </a:lnTo>
                <a:lnTo>
                  <a:pt x="1078165" y="957652"/>
                </a:lnTo>
                <a:lnTo>
                  <a:pt x="1117804" y="982449"/>
                </a:lnTo>
                <a:lnTo>
                  <a:pt x="1158906" y="1005481"/>
                </a:lnTo>
                <a:lnTo>
                  <a:pt x="1201576" y="1026624"/>
                </a:lnTo>
                <a:lnTo>
                  <a:pt x="1245919" y="1045752"/>
                </a:lnTo>
                <a:lnTo>
                  <a:pt x="1292039" y="1062738"/>
                </a:lnTo>
                <a:lnTo>
                  <a:pt x="1340041" y="1077456"/>
                </a:lnTo>
                <a:lnTo>
                  <a:pt x="1387884" y="1089252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bg object 21"/>
          <p:cNvSpPr/>
          <p:nvPr/>
        </p:nvSpPr>
        <p:spPr>
          <a:xfrm>
            <a:off x="7830360" y="4080240"/>
            <a:ext cx="1312920" cy="1063080"/>
          </a:xfrm>
          <a:custGeom>
            <a:avLst/>
            <a:gdLst>
              <a:gd name="textAreaLeft" fmla="*/ 0 w 1312920"/>
              <a:gd name="textAreaRight" fmla="*/ 1313640 w 1312920"/>
              <a:gd name="textAreaTop" fmla="*/ 0 h 1063080"/>
              <a:gd name="textAreaBottom" fmla="*/ 1063800 h 1063080"/>
            </a:gdLst>
            <a:ahLst/>
            <a:cxnLst/>
            <a:rect l="textAreaLeft" t="textAreaTop" r="textAreaRight" b="textAreaBottom"/>
            <a:pathLst>
              <a:path w="1313815" h="1063625">
                <a:moveTo>
                  <a:pt x="1313801" y="0"/>
                </a:moveTo>
                <a:lnTo>
                  <a:pt x="1231043" y="23287"/>
                </a:lnTo>
                <a:lnTo>
                  <a:pt x="1184923" y="40273"/>
                </a:lnTo>
                <a:lnTo>
                  <a:pt x="1140580" y="59400"/>
                </a:lnTo>
                <a:lnTo>
                  <a:pt x="1097910" y="80543"/>
                </a:lnTo>
                <a:lnTo>
                  <a:pt x="1056808" y="103576"/>
                </a:lnTo>
                <a:lnTo>
                  <a:pt x="1017170" y="128372"/>
                </a:lnTo>
                <a:lnTo>
                  <a:pt x="978890" y="154807"/>
                </a:lnTo>
                <a:lnTo>
                  <a:pt x="941865" y="182752"/>
                </a:lnTo>
                <a:lnTo>
                  <a:pt x="905990" y="212084"/>
                </a:lnTo>
                <a:lnTo>
                  <a:pt x="871161" y="242675"/>
                </a:lnTo>
                <a:lnTo>
                  <a:pt x="837272" y="274400"/>
                </a:lnTo>
                <a:lnTo>
                  <a:pt x="804220" y="307133"/>
                </a:lnTo>
                <a:lnTo>
                  <a:pt x="771899" y="340748"/>
                </a:lnTo>
                <a:lnTo>
                  <a:pt x="740206" y="375119"/>
                </a:lnTo>
                <a:lnTo>
                  <a:pt x="709035" y="410119"/>
                </a:lnTo>
                <a:lnTo>
                  <a:pt x="678283" y="445623"/>
                </a:lnTo>
                <a:lnTo>
                  <a:pt x="647844" y="481506"/>
                </a:lnTo>
                <a:lnTo>
                  <a:pt x="617614" y="517640"/>
                </a:lnTo>
                <a:lnTo>
                  <a:pt x="587489" y="553900"/>
                </a:lnTo>
                <a:lnTo>
                  <a:pt x="557363" y="590161"/>
                </a:lnTo>
                <a:lnTo>
                  <a:pt x="527134" y="626295"/>
                </a:lnTo>
                <a:lnTo>
                  <a:pt x="496695" y="662177"/>
                </a:lnTo>
                <a:lnTo>
                  <a:pt x="465942" y="697682"/>
                </a:lnTo>
                <a:lnTo>
                  <a:pt x="434772" y="732682"/>
                </a:lnTo>
                <a:lnTo>
                  <a:pt x="403078" y="767053"/>
                </a:lnTo>
                <a:lnTo>
                  <a:pt x="370758" y="800667"/>
                </a:lnTo>
                <a:lnTo>
                  <a:pt x="337705" y="833400"/>
                </a:lnTo>
                <a:lnTo>
                  <a:pt x="303817" y="865125"/>
                </a:lnTo>
                <a:lnTo>
                  <a:pt x="268987" y="895717"/>
                </a:lnTo>
                <a:lnTo>
                  <a:pt x="233112" y="925048"/>
                </a:lnTo>
                <a:lnTo>
                  <a:pt x="196087" y="952994"/>
                </a:lnTo>
                <a:lnTo>
                  <a:pt x="157808" y="979428"/>
                </a:lnTo>
                <a:lnTo>
                  <a:pt x="118169" y="1004225"/>
                </a:lnTo>
                <a:lnTo>
                  <a:pt x="77067" y="1027257"/>
                </a:lnTo>
                <a:lnTo>
                  <a:pt x="34397" y="1048400"/>
                </a:lnTo>
                <a:lnTo>
                  <a:pt x="0" y="1063238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bg object 22"/>
          <p:cNvSpPr/>
          <p:nvPr/>
        </p:nvSpPr>
        <p:spPr>
          <a:xfrm>
            <a:off x="0" y="0"/>
            <a:ext cx="1312920" cy="1063080"/>
          </a:xfrm>
          <a:custGeom>
            <a:avLst/>
            <a:gdLst>
              <a:gd name="textAreaLeft" fmla="*/ 0 w 1312920"/>
              <a:gd name="textAreaRight" fmla="*/ 1313640 w 1312920"/>
              <a:gd name="textAreaTop" fmla="*/ 0 h 1063080"/>
              <a:gd name="textAreaBottom" fmla="*/ 1063800 h 1063080"/>
            </a:gdLst>
            <a:ahLst/>
            <a:cxnLst/>
            <a:rect l="textAreaLeft" t="textAreaTop" r="textAreaRight" b="textAreaBottom"/>
            <a:pathLst>
              <a:path w="1313815" h="1063625">
                <a:moveTo>
                  <a:pt x="1313801" y="0"/>
                </a:moveTo>
                <a:lnTo>
                  <a:pt x="1236733" y="35980"/>
                </a:lnTo>
                <a:lnTo>
                  <a:pt x="1195631" y="59013"/>
                </a:lnTo>
                <a:lnTo>
                  <a:pt x="1155993" y="83809"/>
                </a:lnTo>
                <a:lnTo>
                  <a:pt x="1117714" y="110243"/>
                </a:lnTo>
                <a:lnTo>
                  <a:pt x="1080689" y="138189"/>
                </a:lnTo>
                <a:lnTo>
                  <a:pt x="1044814" y="167521"/>
                </a:lnTo>
                <a:lnTo>
                  <a:pt x="1009984" y="198112"/>
                </a:lnTo>
                <a:lnTo>
                  <a:pt x="976095" y="229837"/>
                </a:lnTo>
                <a:lnTo>
                  <a:pt x="943043" y="262570"/>
                </a:lnTo>
                <a:lnTo>
                  <a:pt x="910722" y="296185"/>
                </a:lnTo>
                <a:lnTo>
                  <a:pt x="879029" y="330555"/>
                </a:lnTo>
                <a:lnTo>
                  <a:pt x="847858" y="365556"/>
                </a:lnTo>
                <a:lnTo>
                  <a:pt x="817106" y="401060"/>
                </a:lnTo>
                <a:lnTo>
                  <a:pt x="786667" y="436942"/>
                </a:lnTo>
                <a:lnTo>
                  <a:pt x="756437" y="473077"/>
                </a:lnTo>
                <a:lnTo>
                  <a:pt x="726312" y="509337"/>
                </a:lnTo>
                <a:lnTo>
                  <a:pt x="696187" y="545597"/>
                </a:lnTo>
                <a:lnTo>
                  <a:pt x="665957" y="581732"/>
                </a:lnTo>
                <a:lnTo>
                  <a:pt x="635518" y="617614"/>
                </a:lnTo>
                <a:lnTo>
                  <a:pt x="604766" y="653118"/>
                </a:lnTo>
                <a:lnTo>
                  <a:pt x="573595" y="688119"/>
                </a:lnTo>
                <a:lnTo>
                  <a:pt x="541902" y="722489"/>
                </a:lnTo>
                <a:lnTo>
                  <a:pt x="509581" y="756104"/>
                </a:lnTo>
                <a:lnTo>
                  <a:pt x="476529" y="788837"/>
                </a:lnTo>
                <a:lnTo>
                  <a:pt x="442640" y="820562"/>
                </a:lnTo>
                <a:lnTo>
                  <a:pt x="407810" y="851153"/>
                </a:lnTo>
                <a:lnTo>
                  <a:pt x="371935" y="880485"/>
                </a:lnTo>
                <a:lnTo>
                  <a:pt x="334910" y="908431"/>
                </a:lnTo>
                <a:lnTo>
                  <a:pt x="296631" y="934865"/>
                </a:lnTo>
                <a:lnTo>
                  <a:pt x="256993" y="959661"/>
                </a:lnTo>
                <a:lnTo>
                  <a:pt x="215890" y="982694"/>
                </a:lnTo>
                <a:lnTo>
                  <a:pt x="173220" y="1003837"/>
                </a:lnTo>
                <a:lnTo>
                  <a:pt x="128878" y="1022964"/>
                </a:lnTo>
                <a:lnTo>
                  <a:pt x="82758" y="1039950"/>
                </a:lnTo>
                <a:lnTo>
                  <a:pt x="34756" y="1054669"/>
                </a:lnTo>
                <a:lnTo>
                  <a:pt x="0" y="1063238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59080" y="439920"/>
            <a:ext cx="6669720" cy="54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559080" y="1223640"/>
            <a:ext cx="3677040" cy="4821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709160" y="1182960"/>
            <a:ext cx="3976920" cy="344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7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7"/>
          </p:nvPr>
        </p:nvSpPr>
        <p:spPr>
          <a:xfrm>
            <a:off x="3108960" y="4783320"/>
            <a:ext cx="292536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7" name="PlaceHolder 5"/>
          <p:cNvSpPr>
            <a:spLocks noGrp="1"/>
          </p:cNvSpPr>
          <p:nvPr>
            <p:ph type="dt" idx="8"/>
          </p:nvPr>
        </p:nvSpPr>
        <p:spPr>
          <a:xfrm>
            <a:off x="457200" y="4783320"/>
            <a:ext cx="210240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9"/>
          </p:nvPr>
        </p:nvSpPr>
        <p:spPr>
          <a:xfrm>
            <a:off x="6583680" y="4783320"/>
            <a:ext cx="210240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721574-C2FD-4250-85FF-436E4BE6C0F7}" type="slidenum">
              <a: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bg object 16" hidden="1"/>
          <p:cNvSpPr/>
          <p:nvPr/>
        </p:nvSpPr>
        <p:spPr>
          <a:xfrm>
            <a:off x="0" y="0"/>
            <a:ext cx="9143280" cy="514296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5142960"/>
              <a:gd name="textAreaBottom" fmla="*/ 5143680 h 5142960"/>
            </a:gdLst>
            <a:ahLst/>
            <a:cxnLst/>
            <a:rect l="textAreaLeft" t="textAreaTop" r="textAreaRight" b="textAreaBottom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4F1E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bg object 17" hidden="1"/>
          <p:cNvSpPr/>
          <p:nvPr/>
        </p:nvSpPr>
        <p:spPr>
          <a:xfrm>
            <a:off x="0" y="25992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bg object 18" hidden="1"/>
          <p:cNvSpPr/>
          <p:nvPr/>
        </p:nvSpPr>
        <p:spPr>
          <a:xfrm>
            <a:off x="0" y="486324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bg object 16"/>
          <p:cNvSpPr/>
          <p:nvPr/>
        </p:nvSpPr>
        <p:spPr>
          <a:xfrm>
            <a:off x="0" y="0"/>
            <a:ext cx="9143280" cy="514296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5142960"/>
              <a:gd name="textAreaBottom" fmla="*/ 5143680 h 5142960"/>
            </a:gdLst>
            <a:ahLst/>
            <a:cxnLst/>
            <a:rect l="textAreaLeft" t="textAreaTop" r="textAreaRight" b="textAreaBottom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4F1E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bg object 17"/>
          <p:cNvSpPr/>
          <p:nvPr/>
        </p:nvSpPr>
        <p:spPr>
          <a:xfrm>
            <a:off x="0" y="25992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bg object 18"/>
          <p:cNvSpPr/>
          <p:nvPr/>
        </p:nvSpPr>
        <p:spPr>
          <a:xfrm>
            <a:off x="0" y="486324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bg object 19"/>
          <p:cNvSpPr/>
          <p:nvPr/>
        </p:nvSpPr>
        <p:spPr>
          <a:xfrm>
            <a:off x="0" y="4106160"/>
            <a:ext cx="1249560" cy="1036800"/>
          </a:xfrm>
          <a:custGeom>
            <a:avLst/>
            <a:gdLst>
              <a:gd name="textAreaLeft" fmla="*/ 0 w 1249560"/>
              <a:gd name="textAreaRight" fmla="*/ 1250280 w 1249560"/>
              <a:gd name="textAreaTop" fmla="*/ 0 h 1036800"/>
              <a:gd name="textAreaBottom" fmla="*/ 1037520 h 1036800"/>
            </a:gdLst>
            <a:ahLst/>
            <a:cxnLst/>
            <a:rect l="textAreaLeft" t="textAreaTop" r="textAreaRight" b="textAreaBottom"/>
            <a:pathLst>
              <a:path w="1250315" h="1037589">
                <a:moveTo>
                  <a:pt x="0" y="0"/>
                </a:moveTo>
                <a:lnTo>
                  <a:pt x="69670" y="20060"/>
                </a:lnTo>
                <a:lnTo>
                  <a:pt x="115790" y="37046"/>
                </a:lnTo>
                <a:lnTo>
                  <a:pt x="160133" y="56174"/>
                </a:lnTo>
                <a:lnTo>
                  <a:pt x="202803" y="77317"/>
                </a:lnTo>
                <a:lnTo>
                  <a:pt x="243905" y="100349"/>
                </a:lnTo>
                <a:lnTo>
                  <a:pt x="283544" y="125146"/>
                </a:lnTo>
                <a:lnTo>
                  <a:pt x="321823" y="151580"/>
                </a:lnTo>
                <a:lnTo>
                  <a:pt x="358848" y="179526"/>
                </a:lnTo>
                <a:lnTo>
                  <a:pt x="394723" y="208857"/>
                </a:lnTo>
                <a:lnTo>
                  <a:pt x="429552" y="239448"/>
                </a:lnTo>
                <a:lnTo>
                  <a:pt x="463441" y="271174"/>
                </a:lnTo>
                <a:lnTo>
                  <a:pt x="496494" y="303906"/>
                </a:lnTo>
                <a:lnTo>
                  <a:pt x="528814" y="337521"/>
                </a:lnTo>
                <a:lnTo>
                  <a:pt x="560507" y="371892"/>
                </a:lnTo>
                <a:lnTo>
                  <a:pt x="591678" y="406892"/>
                </a:lnTo>
                <a:lnTo>
                  <a:pt x="622431" y="442397"/>
                </a:lnTo>
                <a:lnTo>
                  <a:pt x="652869" y="478279"/>
                </a:lnTo>
                <a:lnTo>
                  <a:pt x="683099" y="514413"/>
                </a:lnTo>
                <a:lnTo>
                  <a:pt x="713224" y="550674"/>
                </a:lnTo>
                <a:lnTo>
                  <a:pt x="743350" y="586934"/>
                </a:lnTo>
                <a:lnTo>
                  <a:pt x="773580" y="623068"/>
                </a:lnTo>
                <a:lnTo>
                  <a:pt x="804018" y="658950"/>
                </a:lnTo>
                <a:lnTo>
                  <a:pt x="834771" y="694455"/>
                </a:lnTo>
                <a:lnTo>
                  <a:pt x="865941" y="729455"/>
                </a:lnTo>
                <a:lnTo>
                  <a:pt x="897635" y="763826"/>
                </a:lnTo>
                <a:lnTo>
                  <a:pt x="929955" y="797441"/>
                </a:lnTo>
                <a:lnTo>
                  <a:pt x="963008" y="830174"/>
                </a:lnTo>
                <a:lnTo>
                  <a:pt x="996897" y="861899"/>
                </a:lnTo>
                <a:lnTo>
                  <a:pt x="1031726" y="892490"/>
                </a:lnTo>
                <a:lnTo>
                  <a:pt x="1067601" y="921821"/>
                </a:lnTo>
                <a:lnTo>
                  <a:pt x="1104626" y="949767"/>
                </a:lnTo>
                <a:lnTo>
                  <a:pt x="1142905" y="976201"/>
                </a:lnTo>
                <a:lnTo>
                  <a:pt x="1182544" y="1000998"/>
                </a:lnTo>
                <a:lnTo>
                  <a:pt x="1223646" y="1024030"/>
                </a:lnTo>
                <a:lnTo>
                  <a:pt x="1250272" y="1037224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bg object 20"/>
          <p:cNvSpPr/>
          <p:nvPr/>
        </p:nvSpPr>
        <p:spPr>
          <a:xfrm>
            <a:off x="7756200" y="0"/>
            <a:ext cx="1387440" cy="1089000"/>
          </a:xfrm>
          <a:custGeom>
            <a:avLst/>
            <a:gdLst>
              <a:gd name="textAreaLeft" fmla="*/ 0 w 1387440"/>
              <a:gd name="textAreaRight" fmla="*/ 1388160 w 1387440"/>
              <a:gd name="textAreaTop" fmla="*/ 0 h 1089000"/>
              <a:gd name="textAreaBottom" fmla="*/ 1089720 h 1089000"/>
            </a:gdLst>
            <a:ahLst/>
            <a:cxnLst/>
            <a:rect l="textAreaLeft" t="textAreaTop" r="textAreaRight" b="textAreaBottom"/>
            <a:pathLst>
              <a:path w="1388109" h="1089660">
                <a:moveTo>
                  <a:pt x="0" y="0"/>
                </a:moveTo>
                <a:lnTo>
                  <a:pt x="51050" y="18497"/>
                </a:lnTo>
                <a:lnTo>
                  <a:pt x="95393" y="37624"/>
                </a:lnTo>
                <a:lnTo>
                  <a:pt x="138063" y="58768"/>
                </a:lnTo>
                <a:lnTo>
                  <a:pt x="179165" y="81800"/>
                </a:lnTo>
                <a:lnTo>
                  <a:pt x="218803" y="106597"/>
                </a:lnTo>
                <a:lnTo>
                  <a:pt x="257083" y="133031"/>
                </a:lnTo>
                <a:lnTo>
                  <a:pt x="294108" y="160977"/>
                </a:lnTo>
                <a:lnTo>
                  <a:pt x="329983" y="190308"/>
                </a:lnTo>
                <a:lnTo>
                  <a:pt x="364812" y="220899"/>
                </a:lnTo>
                <a:lnTo>
                  <a:pt x="398701" y="252624"/>
                </a:lnTo>
                <a:lnTo>
                  <a:pt x="431753" y="285357"/>
                </a:lnTo>
                <a:lnTo>
                  <a:pt x="464074" y="318972"/>
                </a:lnTo>
                <a:lnTo>
                  <a:pt x="495767" y="353343"/>
                </a:lnTo>
                <a:lnTo>
                  <a:pt x="526938" y="388343"/>
                </a:lnTo>
                <a:lnTo>
                  <a:pt x="557690" y="423848"/>
                </a:lnTo>
                <a:lnTo>
                  <a:pt x="588129" y="459730"/>
                </a:lnTo>
                <a:lnTo>
                  <a:pt x="618359" y="495864"/>
                </a:lnTo>
                <a:lnTo>
                  <a:pt x="648484" y="532124"/>
                </a:lnTo>
                <a:lnTo>
                  <a:pt x="678610" y="568385"/>
                </a:lnTo>
                <a:lnTo>
                  <a:pt x="708839" y="604519"/>
                </a:lnTo>
                <a:lnTo>
                  <a:pt x="739278" y="640401"/>
                </a:lnTo>
                <a:lnTo>
                  <a:pt x="770031" y="675906"/>
                </a:lnTo>
                <a:lnTo>
                  <a:pt x="801201" y="710906"/>
                </a:lnTo>
                <a:lnTo>
                  <a:pt x="832895" y="745277"/>
                </a:lnTo>
                <a:lnTo>
                  <a:pt x="865215" y="778892"/>
                </a:lnTo>
                <a:lnTo>
                  <a:pt x="898268" y="811624"/>
                </a:lnTo>
                <a:lnTo>
                  <a:pt x="932156" y="843350"/>
                </a:lnTo>
                <a:lnTo>
                  <a:pt x="966986" y="873941"/>
                </a:lnTo>
                <a:lnTo>
                  <a:pt x="1002861" y="903272"/>
                </a:lnTo>
                <a:lnTo>
                  <a:pt x="1039886" y="931218"/>
                </a:lnTo>
                <a:lnTo>
                  <a:pt x="1078165" y="957652"/>
                </a:lnTo>
                <a:lnTo>
                  <a:pt x="1117804" y="982449"/>
                </a:lnTo>
                <a:lnTo>
                  <a:pt x="1158906" y="1005481"/>
                </a:lnTo>
                <a:lnTo>
                  <a:pt x="1201576" y="1026624"/>
                </a:lnTo>
                <a:lnTo>
                  <a:pt x="1245919" y="1045752"/>
                </a:lnTo>
                <a:lnTo>
                  <a:pt x="1292039" y="1062738"/>
                </a:lnTo>
                <a:lnTo>
                  <a:pt x="1340041" y="1077456"/>
                </a:lnTo>
                <a:lnTo>
                  <a:pt x="1387884" y="1089252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bg object 21"/>
          <p:cNvSpPr/>
          <p:nvPr/>
        </p:nvSpPr>
        <p:spPr>
          <a:xfrm>
            <a:off x="7830360" y="4080240"/>
            <a:ext cx="1312920" cy="1063080"/>
          </a:xfrm>
          <a:custGeom>
            <a:avLst/>
            <a:gdLst>
              <a:gd name="textAreaLeft" fmla="*/ 0 w 1312920"/>
              <a:gd name="textAreaRight" fmla="*/ 1313640 w 1312920"/>
              <a:gd name="textAreaTop" fmla="*/ 0 h 1063080"/>
              <a:gd name="textAreaBottom" fmla="*/ 1063800 h 1063080"/>
            </a:gdLst>
            <a:ahLst/>
            <a:cxnLst/>
            <a:rect l="textAreaLeft" t="textAreaTop" r="textAreaRight" b="textAreaBottom"/>
            <a:pathLst>
              <a:path w="1313815" h="1063625">
                <a:moveTo>
                  <a:pt x="1313801" y="0"/>
                </a:moveTo>
                <a:lnTo>
                  <a:pt x="1231043" y="23287"/>
                </a:lnTo>
                <a:lnTo>
                  <a:pt x="1184923" y="40273"/>
                </a:lnTo>
                <a:lnTo>
                  <a:pt x="1140580" y="59400"/>
                </a:lnTo>
                <a:lnTo>
                  <a:pt x="1097910" y="80543"/>
                </a:lnTo>
                <a:lnTo>
                  <a:pt x="1056808" y="103576"/>
                </a:lnTo>
                <a:lnTo>
                  <a:pt x="1017170" y="128372"/>
                </a:lnTo>
                <a:lnTo>
                  <a:pt x="978890" y="154807"/>
                </a:lnTo>
                <a:lnTo>
                  <a:pt x="941865" y="182752"/>
                </a:lnTo>
                <a:lnTo>
                  <a:pt x="905990" y="212084"/>
                </a:lnTo>
                <a:lnTo>
                  <a:pt x="871161" y="242675"/>
                </a:lnTo>
                <a:lnTo>
                  <a:pt x="837272" y="274400"/>
                </a:lnTo>
                <a:lnTo>
                  <a:pt x="804220" y="307133"/>
                </a:lnTo>
                <a:lnTo>
                  <a:pt x="771899" y="340748"/>
                </a:lnTo>
                <a:lnTo>
                  <a:pt x="740206" y="375119"/>
                </a:lnTo>
                <a:lnTo>
                  <a:pt x="709035" y="410119"/>
                </a:lnTo>
                <a:lnTo>
                  <a:pt x="678283" y="445623"/>
                </a:lnTo>
                <a:lnTo>
                  <a:pt x="647844" y="481506"/>
                </a:lnTo>
                <a:lnTo>
                  <a:pt x="617614" y="517640"/>
                </a:lnTo>
                <a:lnTo>
                  <a:pt x="587489" y="553900"/>
                </a:lnTo>
                <a:lnTo>
                  <a:pt x="557363" y="590161"/>
                </a:lnTo>
                <a:lnTo>
                  <a:pt x="527134" y="626295"/>
                </a:lnTo>
                <a:lnTo>
                  <a:pt x="496695" y="662177"/>
                </a:lnTo>
                <a:lnTo>
                  <a:pt x="465942" y="697682"/>
                </a:lnTo>
                <a:lnTo>
                  <a:pt x="434772" y="732682"/>
                </a:lnTo>
                <a:lnTo>
                  <a:pt x="403078" y="767053"/>
                </a:lnTo>
                <a:lnTo>
                  <a:pt x="370758" y="800667"/>
                </a:lnTo>
                <a:lnTo>
                  <a:pt x="337705" y="833400"/>
                </a:lnTo>
                <a:lnTo>
                  <a:pt x="303817" y="865125"/>
                </a:lnTo>
                <a:lnTo>
                  <a:pt x="268987" y="895717"/>
                </a:lnTo>
                <a:lnTo>
                  <a:pt x="233112" y="925048"/>
                </a:lnTo>
                <a:lnTo>
                  <a:pt x="196087" y="952994"/>
                </a:lnTo>
                <a:lnTo>
                  <a:pt x="157808" y="979428"/>
                </a:lnTo>
                <a:lnTo>
                  <a:pt x="118169" y="1004225"/>
                </a:lnTo>
                <a:lnTo>
                  <a:pt x="77067" y="1027257"/>
                </a:lnTo>
                <a:lnTo>
                  <a:pt x="34397" y="1048400"/>
                </a:lnTo>
                <a:lnTo>
                  <a:pt x="0" y="1063238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bg object 22"/>
          <p:cNvSpPr/>
          <p:nvPr/>
        </p:nvSpPr>
        <p:spPr>
          <a:xfrm>
            <a:off x="0" y="0"/>
            <a:ext cx="1312920" cy="1063080"/>
          </a:xfrm>
          <a:custGeom>
            <a:avLst/>
            <a:gdLst>
              <a:gd name="textAreaLeft" fmla="*/ 0 w 1312920"/>
              <a:gd name="textAreaRight" fmla="*/ 1313640 w 1312920"/>
              <a:gd name="textAreaTop" fmla="*/ 0 h 1063080"/>
              <a:gd name="textAreaBottom" fmla="*/ 1063800 h 1063080"/>
            </a:gdLst>
            <a:ahLst/>
            <a:cxnLst/>
            <a:rect l="textAreaLeft" t="textAreaTop" r="textAreaRight" b="textAreaBottom"/>
            <a:pathLst>
              <a:path w="1313815" h="1063625">
                <a:moveTo>
                  <a:pt x="1313801" y="0"/>
                </a:moveTo>
                <a:lnTo>
                  <a:pt x="1236733" y="35980"/>
                </a:lnTo>
                <a:lnTo>
                  <a:pt x="1195631" y="59013"/>
                </a:lnTo>
                <a:lnTo>
                  <a:pt x="1155993" y="83809"/>
                </a:lnTo>
                <a:lnTo>
                  <a:pt x="1117714" y="110243"/>
                </a:lnTo>
                <a:lnTo>
                  <a:pt x="1080689" y="138189"/>
                </a:lnTo>
                <a:lnTo>
                  <a:pt x="1044814" y="167521"/>
                </a:lnTo>
                <a:lnTo>
                  <a:pt x="1009984" y="198112"/>
                </a:lnTo>
                <a:lnTo>
                  <a:pt x="976095" y="229837"/>
                </a:lnTo>
                <a:lnTo>
                  <a:pt x="943043" y="262570"/>
                </a:lnTo>
                <a:lnTo>
                  <a:pt x="910722" y="296185"/>
                </a:lnTo>
                <a:lnTo>
                  <a:pt x="879029" y="330555"/>
                </a:lnTo>
                <a:lnTo>
                  <a:pt x="847858" y="365556"/>
                </a:lnTo>
                <a:lnTo>
                  <a:pt x="817106" y="401060"/>
                </a:lnTo>
                <a:lnTo>
                  <a:pt x="786667" y="436942"/>
                </a:lnTo>
                <a:lnTo>
                  <a:pt x="756437" y="473077"/>
                </a:lnTo>
                <a:lnTo>
                  <a:pt x="726312" y="509337"/>
                </a:lnTo>
                <a:lnTo>
                  <a:pt x="696187" y="545597"/>
                </a:lnTo>
                <a:lnTo>
                  <a:pt x="665957" y="581732"/>
                </a:lnTo>
                <a:lnTo>
                  <a:pt x="635518" y="617614"/>
                </a:lnTo>
                <a:lnTo>
                  <a:pt x="604766" y="653118"/>
                </a:lnTo>
                <a:lnTo>
                  <a:pt x="573595" y="688119"/>
                </a:lnTo>
                <a:lnTo>
                  <a:pt x="541902" y="722489"/>
                </a:lnTo>
                <a:lnTo>
                  <a:pt x="509581" y="756104"/>
                </a:lnTo>
                <a:lnTo>
                  <a:pt x="476529" y="788837"/>
                </a:lnTo>
                <a:lnTo>
                  <a:pt x="442640" y="820562"/>
                </a:lnTo>
                <a:lnTo>
                  <a:pt x="407810" y="851153"/>
                </a:lnTo>
                <a:lnTo>
                  <a:pt x="371935" y="880485"/>
                </a:lnTo>
                <a:lnTo>
                  <a:pt x="334910" y="908431"/>
                </a:lnTo>
                <a:lnTo>
                  <a:pt x="296631" y="934865"/>
                </a:lnTo>
                <a:lnTo>
                  <a:pt x="256993" y="959661"/>
                </a:lnTo>
                <a:lnTo>
                  <a:pt x="215890" y="982694"/>
                </a:lnTo>
                <a:lnTo>
                  <a:pt x="173220" y="1003837"/>
                </a:lnTo>
                <a:lnTo>
                  <a:pt x="128878" y="1022964"/>
                </a:lnTo>
                <a:lnTo>
                  <a:pt x="82758" y="1039950"/>
                </a:lnTo>
                <a:lnTo>
                  <a:pt x="34756" y="1054669"/>
                </a:lnTo>
                <a:lnTo>
                  <a:pt x="0" y="1063238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59080" y="439920"/>
            <a:ext cx="6669720" cy="54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10"/>
          </p:nvPr>
        </p:nvSpPr>
        <p:spPr>
          <a:xfrm>
            <a:off x="3108960" y="4783320"/>
            <a:ext cx="292536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dt" idx="11"/>
          </p:nvPr>
        </p:nvSpPr>
        <p:spPr>
          <a:xfrm>
            <a:off x="457200" y="4783320"/>
            <a:ext cx="210240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12"/>
          </p:nvPr>
        </p:nvSpPr>
        <p:spPr>
          <a:xfrm>
            <a:off x="6583680" y="4783320"/>
            <a:ext cx="210240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0622FCA-3D68-4BEB-AE57-E5475C38CA95}" type="slidenum">
              <a: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bg object 16"/>
          <p:cNvSpPr/>
          <p:nvPr/>
        </p:nvSpPr>
        <p:spPr>
          <a:xfrm>
            <a:off x="0" y="0"/>
            <a:ext cx="9143280" cy="514296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5142960"/>
              <a:gd name="textAreaBottom" fmla="*/ 5143680 h 5142960"/>
            </a:gdLst>
            <a:ahLst/>
            <a:cxnLst/>
            <a:rect l="textAreaLeft" t="textAreaTop" r="textAreaRight" b="textAreaBottom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4F1E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bg object 17"/>
          <p:cNvSpPr/>
          <p:nvPr/>
        </p:nvSpPr>
        <p:spPr>
          <a:xfrm>
            <a:off x="0" y="25992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bg object 18"/>
          <p:cNvSpPr/>
          <p:nvPr/>
        </p:nvSpPr>
        <p:spPr>
          <a:xfrm>
            <a:off x="0" y="4863240"/>
            <a:ext cx="9143280" cy="277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27720"/>
              <a:gd name="textAreaBottom" fmla="*/ 28440 h 27720"/>
            </a:gdLst>
            <a:ahLst/>
            <a:cxnLst/>
            <a:rect l="textAreaLeft" t="textAreaTop" r="textAreaRight" b="textAreaBottom"/>
            <a:pathLst>
              <a:path w="9144000" h="28575">
                <a:moveTo>
                  <a:pt x="0" y="2857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28574"/>
                </a:lnTo>
                <a:lnTo>
                  <a:pt x="0" y="28574"/>
                </a:lnTo>
                <a:close/>
              </a:path>
            </a:pathLst>
          </a:custGeom>
          <a:solidFill>
            <a:srgbClr val="3E35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1"/>
          <p:cNvSpPr>
            <a:spLocks noGrp="1"/>
          </p:cNvSpPr>
          <p:nvPr>
            <p:ph type="ftr" idx="13"/>
          </p:nvPr>
        </p:nvSpPr>
        <p:spPr>
          <a:xfrm>
            <a:off x="3108960" y="4783320"/>
            <a:ext cx="292536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7" name="PlaceHolder 2"/>
          <p:cNvSpPr>
            <a:spLocks noGrp="1"/>
          </p:cNvSpPr>
          <p:nvPr>
            <p:ph type="dt" idx="14"/>
          </p:nvPr>
        </p:nvSpPr>
        <p:spPr>
          <a:xfrm>
            <a:off x="457200" y="4783320"/>
            <a:ext cx="210240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15"/>
          </p:nvPr>
        </p:nvSpPr>
        <p:spPr>
          <a:xfrm>
            <a:off x="6583680" y="4783320"/>
            <a:ext cx="2102400" cy="25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420E81F-C02D-49E5-9A62-2FE3B9E13309}" type="slidenum">
              <a: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784440" y="1605240"/>
            <a:ext cx="7708680" cy="1671840"/>
          </a:xfrm>
          <a:prstGeom prst="rect">
            <a:avLst/>
          </a:prstGeom>
          <a:noFill/>
          <a:ln w="0">
            <a:noFill/>
          </a:ln>
        </p:spPr>
        <p:txBody>
          <a:bodyPr lIns="0" tIns="12600" rIns="0" bIns="0" anchor="t">
            <a:spAutoFit/>
          </a:bodyPr>
          <a:lstStyle/>
          <a:p>
            <a:pPr marL="12600" indent="1625760">
              <a:lnSpc>
                <a:spcPct val="100000"/>
              </a:lnSpc>
              <a:spcBef>
                <a:spcPts val="99"/>
              </a:spcBef>
              <a:buNone/>
              <a:tabLst>
                <a:tab pos="0" algn="l"/>
              </a:tabLst>
            </a:pPr>
            <a:r>
              <a:rPr lang="en-IN" sz="5400" b="0" u="none" strike="noStrike" spc="74">
                <a:solidFill>
                  <a:schemeClr val="dk1"/>
                </a:solidFill>
                <a:effectLst/>
                <a:uFillTx/>
                <a:latin typeface="Cambria"/>
              </a:rPr>
              <a:t>Quick</a:t>
            </a:r>
            <a:r>
              <a:rPr lang="en-IN" sz="5400" b="0" u="none" strike="noStrike" spc="34">
                <a:solidFill>
                  <a:schemeClr val="dk1"/>
                </a:solidFill>
                <a:effectLst/>
                <a:uFillTx/>
                <a:latin typeface="Cambria"/>
              </a:rPr>
              <a:t> </a:t>
            </a:r>
            <a:r>
              <a:rPr lang="en-IN" sz="5400" b="0" u="none" strike="noStrike" spc="85">
                <a:solidFill>
                  <a:schemeClr val="dk1"/>
                </a:solidFill>
                <a:effectLst/>
                <a:uFillTx/>
                <a:latin typeface="Cambria"/>
              </a:rPr>
              <a:t>Ingest</a:t>
            </a:r>
            <a:r>
              <a:rPr lang="en-IN" sz="5400" b="0" u="none" strike="noStrike" spc="40">
                <a:solidFill>
                  <a:schemeClr val="dk1"/>
                </a:solidFill>
                <a:effectLst/>
                <a:uFillTx/>
                <a:latin typeface="Cambria"/>
              </a:rPr>
              <a:t> </a:t>
            </a:r>
            <a:r>
              <a:rPr lang="en-IN" sz="5400" b="0" u="none" strike="noStrike" spc="170">
                <a:solidFill>
                  <a:schemeClr val="dk1"/>
                </a:solidFill>
                <a:effectLst/>
                <a:uFillTx/>
                <a:latin typeface="Cambria"/>
              </a:rPr>
              <a:t>&amp; </a:t>
            </a:r>
            <a:r>
              <a:rPr lang="en-IN" sz="5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Exploratory</a:t>
            </a:r>
            <a:r>
              <a:rPr lang="en-IN" sz="5400" b="0" u="none" strike="noStrike" spc="34">
                <a:solidFill>
                  <a:schemeClr val="dk1"/>
                </a:solidFill>
                <a:effectLst/>
                <a:uFillTx/>
                <a:latin typeface="Cambria"/>
              </a:rPr>
              <a:t> </a:t>
            </a:r>
            <a:r>
              <a:rPr lang="en-IN" sz="5400" b="0" u="none" strike="noStrike" spc="54">
                <a:solidFill>
                  <a:schemeClr val="dk1"/>
                </a:solidFill>
                <a:effectLst/>
                <a:uFillTx/>
                <a:latin typeface="Cambria"/>
              </a:rPr>
              <a:t>Data</a:t>
            </a:r>
            <a:r>
              <a:rPr lang="en-IN" sz="5400" b="0" u="none" strike="noStrike" spc="34">
                <a:solidFill>
                  <a:schemeClr val="dk1"/>
                </a:solidFill>
                <a:effectLst/>
                <a:uFillTx/>
                <a:latin typeface="Cambria"/>
              </a:rPr>
              <a:t> </a:t>
            </a:r>
            <a:r>
              <a:rPr lang="en-IN" sz="5400" b="0" u="none" strike="noStrike" spc="-11">
                <a:solidFill>
                  <a:schemeClr val="dk1"/>
                </a:solidFill>
                <a:effectLst/>
                <a:uFillTx/>
                <a:latin typeface="Cambria"/>
              </a:rPr>
              <a:t>Analysis</a:t>
            </a:r>
            <a:endParaRPr lang="en-IN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object 3"/>
          <p:cNvSpPr/>
          <p:nvPr/>
        </p:nvSpPr>
        <p:spPr>
          <a:xfrm>
            <a:off x="2073960" y="3442680"/>
            <a:ext cx="5305680" cy="24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60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IN" sz="15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The</a:t>
            </a:r>
            <a:r>
              <a:rPr lang="en-IN" sz="1500" b="0" u="none" strike="noStrike" spc="-34">
                <a:solidFill>
                  <a:srgbClr val="000000"/>
                </a:solidFill>
                <a:effectLst/>
                <a:uFillTx/>
                <a:latin typeface="Roboto"/>
              </a:rPr>
              <a:t> </a:t>
            </a:r>
            <a:r>
              <a:rPr lang="en-IN" sz="1500" b="0" u="none" strike="noStrike" spc="-20">
                <a:solidFill>
                  <a:srgbClr val="000000"/>
                </a:solidFill>
                <a:effectLst/>
                <a:uFillTx/>
                <a:latin typeface="Roboto"/>
              </a:rPr>
              <a:t>Foundation</a:t>
            </a:r>
            <a:r>
              <a:rPr lang="en-IN" sz="1500" b="0" u="none" strike="noStrike" spc="-34">
                <a:solidFill>
                  <a:srgbClr val="000000"/>
                </a:solidFill>
                <a:effectLst/>
                <a:uFillTx/>
                <a:latin typeface="Roboto"/>
              </a:rPr>
              <a:t> </a:t>
            </a:r>
            <a:r>
              <a:rPr lang="en-IN" sz="15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for</a:t>
            </a:r>
            <a:r>
              <a:rPr lang="en-IN" sz="1500" b="0" u="none" strike="noStrike" spc="-34">
                <a:solidFill>
                  <a:srgbClr val="000000"/>
                </a:solidFill>
                <a:effectLst/>
                <a:uFillTx/>
                <a:latin typeface="Roboto"/>
              </a:rPr>
              <a:t> </a:t>
            </a:r>
            <a:r>
              <a:rPr lang="en-IN" sz="15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Machine</a:t>
            </a:r>
            <a:r>
              <a:rPr lang="en-IN" sz="1500" b="0" u="none" strike="noStrike" spc="-34">
                <a:solidFill>
                  <a:srgbClr val="000000"/>
                </a:solidFill>
                <a:effectLst/>
                <a:uFillTx/>
                <a:latin typeface="Roboto"/>
              </a:rPr>
              <a:t> </a:t>
            </a:r>
            <a:r>
              <a:rPr lang="en-IN" sz="1500" b="0" u="none" strike="noStrike" spc="-11">
                <a:solidFill>
                  <a:srgbClr val="000000"/>
                </a:solidFill>
                <a:effectLst/>
                <a:uFillTx/>
                <a:latin typeface="Roboto"/>
              </a:rPr>
              <a:t>Learning</a:t>
            </a:r>
            <a:r>
              <a:rPr lang="en-IN" sz="1500" b="0" u="none" strike="noStrike" spc="-34">
                <a:solidFill>
                  <a:srgbClr val="000000"/>
                </a:solidFill>
                <a:effectLst/>
                <a:uFillTx/>
                <a:latin typeface="Roboto"/>
              </a:rPr>
              <a:t> </a:t>
            </a:r>
            <a:r>
              <a:rPr lang="en-IN" sz="15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on</a:t>
            </a:r>
            <a:r>
              <a:rPr lang="en-IN" sz="1500" b="0" u="none" strike="noStrike" spc="-34">
                <a:solidFill>
                  <a:srgbClr val="000000"/>
                </a:solidFill>
                <a:effectLst/>
                <a:uFillTx/>
                <a:latin typeface="Roboto"/>
              </a:rPr>
              <a:t> </a:t>
            </a:r>
            <a:r>
              <a:rPr lang="en-IN" sz="1500" b="0" u="none" strike="noStrike" spc="-20">
                <a:solidFill>
                  <a:srgbClr val="000000"/>
                </a:solidFill>
                <a:effectLst/>
                <a:uFillTx/>
                <a:latin typeface="Roboto"/>
              </a:rPr>
              <a:t>ATTEST</a:t>
            </a:r>
            <a:r>
              <a:rPr lang="en-IN" sz="1500" b="0" u="none" strike="noStrike" spc="-65">
                <a:solidFill>
                  <a:srgbClr val="000000"/>
                </a:solidFill>
                <a:effectLst/>
                <a:uFillTx/>
                <a:latin typeface="Roboto"/>
              </a:rPr>
              <a:t> </a:t>
            </a:r>
            <a:r>
              <a:rPr lang="en-IN" sz="1500" b="0" u="none" strike="noStrike" spc="-20">
                <a:solidFill>
                  <a:srgbClr val="000000"/>
                </a:solidFill>
                <a:effectLst/>
                <a:uFillTx/>
                <a:latin typeface="Roboto"/>
              </a:rPr>
              <a:t>Logs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object 2"/>
          <p:cNvSpPr/>
          <p:nvPr/>
        </p:nvSpPr>
        <p:spPr>
          <a:xfrm>
            <a:off x="7471800" y="0"/>
            <a:ext cx="1671840" cy="1163880"/>
          </a:xfrm>
          <a:custGeom>
            <a:avLst/>
            <a:gdLst>
              <a:gd name="textAreaLeft" fmla="*/ 0 w 1671840"/>
              <a:gd name="textAreaRight" fmla="*/ 1672560 w 1671840"/>
              <a:gd name="textAreaTop" fmla="*/ 0 h 1163880"/>
              <a:gd name="textAreaBottom" fmla="*/ 1164600 h 1163880"/>
            </a:gdLst>
            <a:ahLst/>
            <a:cxnLst/>
            <a:rect l="textAreaLeft" t="textAreaTop" r="textAreaRight" b="textAreaBottom"/>
            <a:pathLst>
              <a:path w="1672590" h="1164590">
                <a:moveTo>
                  <a:pt x="0" y="0"/>
                </a:moveTo>
                <a:lnTo>
                  <a:pt x="74426" y="34597"/>
                </a:lnTo>
                <a:lnTo>
                  <a:pt x="115354" y="56125"/>
                </a:lnTo>
                <a:lnTo>
                  <a:pt x="155185" y="78771"/>
                </a:lnTo>
                <a:lnTo>
                  <a:pt x="193982" y="102470"/>
                </a:lnTo>
                <a:lnTo>
                  <a:pt x="231810" y="127155"/>
                </a:lnTo>
                <a:lnTo>
                  <a:pt x="268734" y="152761"/>
                </a:lnTo>
                <a:lnTo>
                  <a:pt x="304818" y="179221"/>
                </a:lnTo>
                <a:lnTo>
                  <a:pt x="340128" y="206471"/>
                </a:lnTo>
                <a:lnTo>
                  <a:pt x="374726" y="234445"/>
                </a:lnTo>
                <a:lnTo>
                  <a:pt x="408679" y="263076"/>
                </a:lnTo>
                <a:lnTo>
                  <a:pt x="442050" y="292299"/>
                </a:lnTo>
                <a:lnTo>
                  <a:pt x="474905" y="322048"/>
                </a:lnTo>
                <a:lnTo>
                  <a:pt x="507308" y="352257"/>
                </a:lnTo>
                <a:lnTo>
                  <a:pt x="539323" y="382862"/>
                </a:lnTo>
                <a:lnTo>
                  <a:pt x="571015" y="413795"/>
                </a:lnTo>
                <a:lnTo>
                  <a:pt x="602449" y="444991"/>
                </a:lnTo>
                <a:lnTo>
                  <a:pt x="633689" y="476384"/>
                </a:lnTo>
                <a:lnTo>
                  <a:pt x="664800" y="507909"/>
                </a:lnTo>
                <a:lnTo>
                  <a:pt x="695846" y="539499"/>
                </a:lnTo>
                <a:lnTo>
                  <a:pt x="726892" y="571090"/>
                </a:lnTo>
                <a:lnTo>
                  <a:pt x="758003" y="602615"/>
                </a:lnTo>
                <a:lnTo>
                  <a:pt x="789243" y="634008"/>
                </a:lnTo>
                <a:lnTo>
                  <a:pt x="820677" y="665204"/>
                </a:lnTo>
                <a:lnTo>
                  <a:pt x="852369" y="696137"/>
                </a:lnTo>
                <a:lnTo>
                  <a:pt x="884384" y="726742"/>
                </a:lnTo>
                <a:lnTo>
                  <a:pt x="916787" y="756951"/>
                </a:lnTo>
                <a:lnTo>
                  <a:pt x="949642" y="786700"/>
                </a:lnTo>
                <a:lnTo>
                  <a:pt x="983013" y="815923"/>
                </a:lnTo>
                <a:lnTo>
                  <a:pt x="1016966" y="844554"/>
                </a:lnTo>
                <a:lnTo>
                  <a:pt x="1051565" y="872528"/>
                </a:lnTo>
                <a:lnTo>
                  <a:pt x="1086874" y="899778"/>
                </a:lnTo>
                <a:lnTo>
                  <a:pt x="1122958" y="926238"/>
                </a:lnTo>
                <a:lnTo>
                  <a:pt x="1159882" y="951844"/>
                </a:lnTo>
                <a:lnTo>
                  <a:pt x="1197710" y="976529"/>
                </a:lnTo>
                <a:lnTo>
                  <a:pt x="1236507" y="1000228"/>
                </a:lnTo>
                <a:lnTo>
                  <a:pt x="1276338" y="1022874"/>
                </a:lnTo>
                <a:lnTo>
                  <a:pt x="1317266" y="1044402"/>
                </a:lnTo>
                <a:lnTo>
                  <a:pt x="1359357" y="1064746"/>
                </a:lnTo>
                <a:lnTo>
                  <a:pt x="1402676" y="1083841"/>
                </a:lnTo>
                <a:lnTo>
                  <a:pt x="1447286" y="1101620"/>
                </a:lnTo>
                <a:lnTo>
                  <a:pt x="1493252" y="1118018"/>
                </a:lnTo>
                <a:lnTo>
                  <a:pt x="1540640" y="1132970"/>
                </a:lnTo>
                <a:lnTo>
                  <a:pt x="1589513" y="1146408"/>
                </a:lnTo>
                <a:lnTo>
                  <a:pt x="1639936" y="1158268"/>
                </a:lnTo>
                <a:lnTo>
                  <a:pt x="1672146" y="1164592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80000" y="174600"/>
            <a:ext cx="7048800" cy="545760"/>
          </a:xfrm>
          <a:prstGeom prst="rect">
            <a:avLst/>
          </a:prstGeom>
          <a:noFill/>
          <a:ln w="0">
            <a:noFill/>
          </a:ln>
        </p:spPr>
        <p:txBody>
          <a:bodyPr lIns="0" tIns="76320" rIns="0" bIns="0" anchor="t">
            <a:spAutoFit/>
          </a:bodyPr>
          <a:lstStyle/>
          <a:p>
            <a:pPr marL="239400" indent="0">
              <a:lnSpc>
                <a:spcPct val="100000"/>
              </a:lnSpc>
              <a:spcBef>
                <a:spcPts val="99"/>
              </a:spcBef>
              <a:buNone/>
              <a:tabLst>
                <a:tab pos="0" algn="l"/>
              </a:tabLst>
            </a:pPr>
            <a:r>
              <a:rPr lang="en-IN" sz="2400" b="1" u="none" strike="noStrike" spc="-11" dirty="0">
                <a:solidFill>
                  <a:schemeClr val="dk1"/>
                </a:solidFill>
                <a:effectLst/>
                <a:uFillTx/>
                <a:latin typeface="Cambria"/>
              </a:rPr>
              <a:t>Objective:</a:t>
            </a:r>
            <a:endParaRPr lang="en-IN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object 4"/>
          <p:cNvSpPr/>
          <p:nvPr/>
        </p:nvSpPr>
        <p:spPr>
          <a:xfrm>
            <a:off x="582496" y="661820"/>
            <a:ext cx="8099640" cy="39711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600" rIns="0" bIns="0" anchor="b">
            <a:spAutoFit/>
          </a:bodyPr>
          <a:lstStyle/>
          <a:p>
            <a:pPr marL="297990" indent="-285750">
              <a:lnSpc>
                <a:spcPct val="114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Symbol" panose="05050102010706020507" pitchFamily="18" charset="2"/>
              <a:buChar char="Þ"/>
              <a:tabLst>
                <a:tab pos="371520" algn="l"/>
              </a:tabLst>
            </a:pPr>
            <a:r>
              <a:rPr lang="en-US" sz="1400" dirty="0"/>
              <a:t>Prepare and integrate datasets from Task 1 and Task 2 by combining cleaned log messages, cluster labels, and test metadata for model training.</a:t>
            </a:r>
          </a:p>
          <a:p>
            <a:pPr marL="297990" indent="-285750">
              <a:lnSpc>
                <a:spcPct val="114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Symbol" panose="05050102010706020507" pitchFamily="18" charset="2"/>
              <a:buChar char="Þ"/>
              <a:tabLst>
                <a:tab pos="371520" algn="l"/>
              </a:tabLst>
            </a:pPr>
            <a:r>
              <a:rPr lang="en-US" sz="1400" dirty="0"/>
              <a:t>Create reliable training labels using log status (Passed/Failed/Aborted) or failure cluster tags (Timeout, Interface Error, etc.) to support accurate classification.</a:t>
            </a:r>
          </a:p>
          <a:p>
            <a:pPr marL="297990" indent="-285750">
              <a:lnSpc>
                <a:spcPct val="114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Symbol" panose="05050102010706020507" pitchFamily="18" charset="2"/>
              <a:buChar char="Þ"/>
              <a:tabLst>
                <a:tab pos="371520" algn="l"/>
              </a:tabLst>
            </a:pPr>
            <a:r>
              <a:rPr lang="en-US" sz="1400" dirty="0"/>
              <a:t>Develop machine learning classification models using TF-IDF or embedding-based features to predict log types or failure categories for unseen log messages.</a:t>
            </a:r>
          </a:p>
          <a:p>
            <a:pPr marL="297990" indent="-285750">
              <a:lnSpc>
                <a:spcPct val="114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Symbol" panose="05050102010706020507" pitchFamily="18" charset="2"/>
              <a:buChar char="Þ"/>
              <a:tabLst>
                <a:tab pos="371520" algn="l"/>
              </a:tabLst>
            </a:pPr>
            <a:r>
              <a:rPr lang="en-IN" sz="1400" dirty="0"/>
              <a:t>Implement anomaly detection techniques (Isolation Forest) to identify abnormal or unexpected log patterns that deviate from known behaviors.</a:t>
            </a:r>
          </a:p>
          <a:p>
            <a:pPr marL="297990" indent="-285750">
              <a:lnSpc>
                <a:spcPct val="114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Symbol" panose="05050102010706020507" pitchFamily="18" charset="2"/>
              <a:buChar char="Þ"/>
              <a:tabLst>
                <a:tab pos="371520" algn="l"/>
              </a:tabLst>
            </a:pPr>
            <a:r>
              <a:rPr lang="en-US" sz="1400" dirty="0"/>
              <a:t>Visualize model performance and anomalies through confusion matrices, anomaly score distributions, and PCA/t-SNE plots to understand patterns and detect outliers.</a:t>
            </a:r>
          </a:p>
          <a:p>
            <a:pPr marL="297990" indent="-285750">
              <a:lnSpc>
                <a:spcPct val="114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Symbol" panose="05050102010706020507" pitchFamily="18" charset="2"/>
              <a:buChar char="Þ"/>
              <a:tabLst>
                <a:tab pos="371520" algn="l"/>
              </a:tabLst>
            </a:pPr>
            <a:r>
              <a:rPr lang="en-US" sz="1400" dirty="0"/>
              <a:t>Generate automated outputs and insights such as classified logs, anomaly reports, and visual summaries to support debugging, analysis, and continuous improvement.</a:t>
            </a:r>
            <a:endParaRPr lang="en-IN" sz="1400" b="0" u="none" strike="noStrike" dirty="0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0" y="180000"/>
            <a:ext cx="6669720" cy="445670"/>
          </a:xfrm>
          <a:prstGeom prst="rect">
            <a:avLst/>
          </a:prstGeom>
          <a:noFill/>
          <a:ln w="0">
            <a:noFill/>
          </a:ln>
        </p:spPr>
        <p:txBody>
          <a:bodyPr lIns="0" tIns="75600" rIns="0" bIns="0" anchor="t">
            <a:spAutoFit/>
          </a:bodyPr>
          <a:lstStyle/>
          <a:p>
            <a:pPr marL="239400" indent="0">
              <a:lnSpc>
                <a:spcPct val="100000"/>
              </a:lnSpc>
              <a:spcBef>
                <a:spcPts val="99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mbria"/>
              </a:rPr>
              <a:t>Data </a:t>
            </a:r>
            <a:r>
              <a:rPr lang="en-US" sz="2400" dirty="0">
                <a:solidFill>
                  <a:schemeClr val="dk1"/>
                </a:solidFill>
                <a:latin typeface="Cambria"/>
              </a:rPr>
              <a:t>Preparation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mbria"/>
              </a:rPr>
              <a:t>:</a:t>
            </a:r>
            <a:endParaRPr lang="en-IN" sz="2400" b="0" u="none" strike="noStrike" dirty="0">
              <a:solidFill>
                <a:srgbClr val="000000"/>
              </a:solidFill>
              <a:effectLst/>
              <a:uFillTx/>
              <a:latin typeface="Cambria"/>
            </a:endParaRPr>
          </a:p>
        </p:txBody>
      </p:sp>
      <p:sp>
        <p:nvSpPr>
          <p:cNvPr id="65" name="object 3"/>
          <p:cNvSpPr/>
          <p:nvPr/>
        </p:nvSpPr>
        <p:spPr>
          <a:xfrm>
            <a:off x="497520" y="725400"/>
            <a:ext cx="8142120" cy="29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51480" rIns="0" bIns="0" anchor="t">
            <a:sp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360000" y="725400"/>
            <a:ext cx="5039640" cy="5268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</a:pPr>
            <a:br>
              <a:rPr sz="1000" dirty="0"/>
            </a:br>
            <a:r>
              <a:rPr lang="en-IN" sz="1000" b="0" u="none" strike="noStrike" dirty="0">
                <a:solidFill>
                  <a:srgbClr val="000000"/>
                </a:solidFill>
                <a:effectLst/>
                <a:uFillTx/>
                <a:latin typeface="Roboto"/>
              </a:rPr>
              <a:t>    </a:t>
            </a:r>
          </a:p>
        </p:txBody>
      </p:sp>
      <p:pic>
        <p:nvPicPr>
          <p:cNvPr id="68" name="Picture 67"/>
          <p:cNvPicPr/>
          <p:nvPr/>
        </p:nvPicPr>
        <p:blipFill>
          <a:blip r:embed="rId2"/>
          <a:stretch/>
        </p:blipFill>
        <p:spPr>
          <a:xfrm>
            <a:off x="5399640" y="2340000"/>
            <a:ext cx="3600360" cy="180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BAB7708-2B09-869A-EC6F-43A6C0094C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08" y="1118591"/>
            <a:ext cx="5101768" cy="2800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Imported cleaned log data and clustering output using Pandas.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Merged datasets from Task 1 and Task 2 using the </a:t>
            </a:r>
            <a:r>
              <a:rPr kumimoji="0" lang="en-US" altLang="en-US" sz="16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field as the common identifier.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Extracted important metadata including Testcase, DUT, Suite, and ClusterID for deeper analysis.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Created classification labels based on: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-&gt;Execution status (Passed / Failed / Aborted)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-&gt;Failure cluster tags (e.g., Timeout, Interface Error, Device Reset)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32499" y="422024"/>
            <a:ext cx="6669720" cy="33239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r>
              <a:rPr lang="en-IN" sz="2400" dirty="0"/>
              <a:t>Splitting &amp; Preprocessing</a:t>
            </a:r>
            <a:r>
              <a:rPr lang="en-IN" sz="2400" b="0" u="none" strike="noStrike" dirty="0">
                <a:solidFill>
                  <a:srgbClr val="000000"/>
                </a:solidFill>
                <a:effectLst/>
                <a:uFillTx/>
                <a:latin typeface="Cambria"/>
              </a:rPr>
              <a:t>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9380" y="847489"/>
            <a:ext cx="5200620" cy="3784198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Cleaned the raw messages by removing timestamps, symbols, and unnecessary whitespace.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Converted text to lowercase and applied tokenization for consistent processing.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TF-IDF vectorization to transform log messages into numerical feature vectors suitable for ML models.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Enriched the dataset with additional numeric features, such as: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=&gt;Execution duration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=&gt;Error occurrence frequency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=&gt;Cluster ID from Task 2 (for better pattern separation)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the processed dataset into 80% training and 20% testing using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train_test_split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ensure reliable model evaluation.</a:t>
            </a:r>
          </a:p>
        </p:txBody>
      </p:sp>
      <p:pic>
        <p:nvPicPr>
          <p:cNvPr id="72" name="Picture 71"/>
          <p:cNvPicPr/>
          <p:nvPr/>
        </p:nvPicPr>
        <p:blipFill>
          <a:blip r:embed="rId2"/>
          <a:srcRect t="22790"/>
          <a:stretch/>
        </p:blipFill>
        <p:spPr>
          <a:xfrm>
            <a:off x="5404680" y="1260000"/>
            <a:ext cx="3415680" cy="270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/>
          <p:cNvSpPr txBox="1"/>
          <p:nvPr/>
        </p:nvSpPr>
        <p:spPr>
          <a:xfrm>
            <a:off x="262502" y="474061"/>
            <a:ext cx="4860000" cy="46021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2000" b="1" u="none" strike="noStrike" dirty="0"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ea typeface="Microsoft YaHei"/>
                <a:cs typeface="Times New Roman" panose="02020603050405020304" pitchFamily="18" charset="0"/>
              </a:rPr>
              <a:t> </a:t>
            </a:r>
            <a:r>
              <a:rPr lang="en-IN" sz="2400" b="1" u="none" strike="noStrike" dirty="0"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Log Classification: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5002" y="1155214"/>
            <a:ext cx="7842099" cy="2553091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First, we transformed all log messages into numerical features using TF-IDF, because machine-learning models cannot understand raw 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these TF-IDF features, we trained a Random Forest model to learn patterns in the logs and classify them correctly.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 training, we evaluated the model on the test dataset to measure accuracy and ensure the model works well on unseen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Then, the model generated predictions and confidence scores for each log message, showing how sure the model is about each classification.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Finally, we saved the trained Random Forest model using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joblib.dump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(), so it can be reused later without training again.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80000" y="286140"/>
            <a:ext cx="6669720" cy="33239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r>
              <a:rPr lang="en-IN" sz="2400" dirty="0"/>
              <a:t>Classification Output:</a:t>
            </a:r>
            <a:endParaRPr lang="en-IN" sz="2400" b="0" u="none" strike="noStrike" dirty="0">
              <a:solidFill>
                <a:srgbClr val="000000"/>
              </a:solidFill>
              <a:effectLst/>
              <a:uFillTx/>
              <a:latin typeface="Cambri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9E59F4-155A-9567-9A34-0D947D5F5B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000" y="755868"/>
            <a:ext cx="4937251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TestCase — the specific test that produced the log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DUT — device under test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Suite — test suite category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PredictedLabel — model’s prediction (PASS / FAIL / ABORT)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ActualStatus — ground truth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Confidence Score — how sure the model is (0.0–1.0)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LowConfidenceFlag — highlights predictions below a threshold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ErrorMsg — short error snippet from the log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3A229A-6327-1C04-5D7E-225EE6A6F2A3}"/>
              </a:ext>
            </a:extLst>
          </p:cNvPr>
          <p:cNvSpPr txBox="1"/>
          <p:nvPr/>
        </p:nvSpPr>
        <p:spPr>
          <a:xfrm>
            <a:off x="5300770" y="1313161"/>
            <a:ext cx="3327591" cy="1766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26926AD-6E1D-44B7-617A-1767F5FFF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7251" y="811627"/>
            <a:ext cx="426151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Compared PredictedLabel vs ActualStatus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Identified confusing or borderline logs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Tuned Random Forest hyperparameters to improve accuracy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Checked low-confidence predictions to refine thresholds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0F16B3-89A5-06CE-4D7A-0521748BF7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05" t="25531" r="1969" b="5562"/>
          <a:stretch>
            <a:fillRect/>
          </a:stretch>
        </p:blipFill>
        <p:spPr>
          <a:xfrm>
            <a:off x="180000" y="2698157"/>
            <a:ext cx="5217023" cy="20723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568FC9F-6623-A676-61E4-A1BE08A16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901" y="2698156"/>
            <a:ext cx="3450099" cy="20723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82"/>
          <p:cNvSpPr txBox="1"/>
          <p:nvPr/>
        </p:nvSpPr>
        <p:spPr>
          <a:xfrm>
            <a:off x="678749" y="1172093"/>
            <a:ext cx="7543976" cy="2799313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transformed the raw text into numeric features using TF-IDF / Word2Vec / BERT so the model can recognize patterns and compare logs mathematically.</a:t>
            </a:r>
            <a:endParaRPr lang="en-IN" sz="16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was trained on logs that represent regular system behavior, allowing it to understand what “normal” execution looks like.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the training data, Isolation Forest identified the common structure, wording, and frequency of normal log messages.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 training, every new log was assigned a score indicating how different it is from the patterns the model learned.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a log message looked unusual or rare (based on its score), it was flagged as a potential issue for further inspection.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BC3A1E-C2E8-5D5D-1E22-35E236AC4CC0}"/>
              </a:ext>
            </a:extLst>
          </p:cNvPr>
          <p:cNvSpPr txBox="1"/>
          <p:nvPr/>
        </p:nvSpPr>
        <p:spPr>
          <a:xfrm>
            <a:off x="678749" y="575232"/>
            <a:ext cx="34394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Anomaly Detection: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360000" y="461460"/>
            <a:ext cx="6669720" cy="33239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Anomaly Output:</a:t>
            </a:r>
            <a:endParaRPr lang="en-IN" sz="2400" b="1" u="none" strike="noStrike" dirty="0">
              <a:solidFill>
                <a:srgbClr val="000000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86387" y="793859"/>
            <a:ext cx="3923242" cy="1937538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anomalies_detected.csv (Final Anomalies Only)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file contains only the logs that were flagged as anomalies.</a:t>
            </a:r>
            <a:b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includes: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LogID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Message Snippet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Anomaly Score (above threshold)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Is_anomaly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=&gt; This is the main output file used for analysis.</a:t>
            </a:r>
            <a:b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=&gt; It lists only the suspicious or abnormal logs.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6DE257-9009-0A89-47AE-6C477E790B8E}"/>
              </a:ext>
            </a:extLst>
          </p:cNvPr>
          <p:cNvSpPr txBox="1"/>
          <p:nvPr/>
        </p:nvSpPr>
        <p:spPr>
          <a:xfrm>
            <a:off x="4536016" y="720952"/>
            <a:ext cx="42024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anomaly_full_scores.csv (Scores for ALL logs)</a:t>
            </a:r>
          </a:p>
          <a:p>
            <a:r>
              <a:rPr lang="en-IN" sz="1200" dirty="0"/>
              <a:t>This file contains anomaly scores for every log entry, not just the anomalous ones.</a:t>
            </a:r>
          </a:p>
          <a:p>
            <a:r>
              <a:rPr lang="en-IN" sz="1200" dirty="0"/>
              <a:t>It includes: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 err="1"/>
              <a:t>LogID</a:t>
            </a: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Full Message (or snippet)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Anomaly Score, </a:t>
            </a:r>
            <a:r>
              <a:rPr lang="en-IN" sz="1200" dirty="0" err="1"/>
              <a:t>IsAnomaly</a:t>
            </a:r>
            <a:r>
              <a:rPr lang="en-IN" sz="1200" dirty="0"/>
              <a:t> Flag (0 = normal, 1 = anomaly)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 err="1"/>
              <a:t>ClusterID</a:t>
            </a:r>
            <a:r>
              <a:rPr lang="en-IN" sz="1200" dirty="0"/>
              <a:t>, Metadata</a:t>
            </a:r>
          </a:p>
          <a:p>
            <a:r>
              <a:rPr lang="en-IN" sz="1200" dirty="0"/>
              <a:t>     =&gt;Understanding the distribution of scores</a:t>
            </a:r>
          </a:p>
          <a:p>
            <a:r>
              <a:rPr lang="en-IN" sz="1200" dirty="0"/>
              <a:t>     =&gt;Choosing a better threshold</a:t>
            </a:r>
          </a:p>
          <a:p>
            <a:r>
              <a:rPr lang="en-IN" sz="1200" dirty="0"/>
              <a:t>     =&gt;Visualizing the complete behaviour of the dataset</a:t>
            </a:r>
          </a:p>
          <a:p>
            <a:endParaRPr lang="en-IN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E5E93C-3704-8B56-7E00-165CFC8BFA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782" t="30610" r="4277" b="6032"/>
          <a:stretch>
            <a:fillRect/>
          </a:stretch>
        </p:blipFill>
        <p:spPr>
          <a:xfrm>
            <a:off x="360000" y="2956369"/>
            <a:ext cx="3531356" cy="18494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D828DD-DDB1-BFDF-331A-60574330BB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011" r="1203" b="14017"/>
          <a:stretch>
            <a:fillRect/>
          </a:stretch>
        </p:blipFill>
        <p:spPr>
          <a:xfrm>
            <a:off x="4001359" y="2956368"/>
            <a:ext cx="4991387" cy="18494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364030" y="312665"/>
            <a:ext cx="6669720" cy="445670"/>
          </a:xfrm>
          <a:prstGeom prst="rect">
            <a:avLst/>
          </a:prstGeom>
          <a:noFill/>
          <a:ln w="0">
            <a:noFill/>
          </a:ln>
        </p:spPr>
        <p:txBody>
          <a:bodyPr lIns="0" tIns="75600" rIns="0" bIns="0" anchor="t">
            <a:spAutoFit/>
          </a:bodyPr>
          <a:lstStyle/>
          <a:p>
            <a:pPr marL="2394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mbria"/>
              </a:rPr>
              <a:t>Visualization: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mbria"/>
              </a:rPr>
              <a:t> </a:t>
            </a:r>
            <a:endParaRPr lang="en-IN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453275" y="1031299"/>
            <a:ext cx="4320000" cy="263003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US" sz="1100" b="1" dirty="0"/>
              <a:t>• Created visual graphs using Matplotlib and Seaborn</a:t>
            </a:r>
          </a:p>
          <a:p>
            <a:r>
              <a:rPr lang="en-US" sz="1100" dirty="0"/>
              <a:t>Used Python plotting libraries to convert model results into clear, understandable charts.</a:t>
            </a:r>
          </a:p>
          <a:p>
            <a:r>
              <a:rPr lang="en-US" sz="1100" b="1" dirty="0"/>
              <a:t>• Confusion Matrix for classification evaluation</a:t>
            </a:r>
          </a:p>
          <a:p>
            <a:r>
              <a:rPr lang="en-US" sz="1100" dirty="0"/>
              <a:t>Displayed how well the model predicted each class and helped identify misclassifications.</a:t>
            </a:r>
          </a:p>
          <a:p>
            <a:r>
              <a:rPr lang="en-US" sz="1100" b="1" dirty="0"/>
              <a:t>• Anomaly Score Histogram to analyze score distribution</a:t>
            </a:r>
          </a:p>
          <a:p>
            <a:r>
              <a:rPr lang="en-US" sz="1100" dirty="0"/>
              <a:t>Showed the range of anomaly scores and made it easy to see which logs were normal vs. abnormal.</a:t>
            </a:r>
          </a:p>
          <a:p>
            <a:r>
              <a:rPr lang="en-US" sz="1100" b="1" dirty="0"/>
              <a:t>• PCA / t-SNE scatter plot for dimensionality reduction</a:t>
            </a:r>
          </a:p>
          <a:p>
            <a:r>
              <a:rPr lang="en-US" sz="1100" dirty="0"/>
              <a:t>Reduced high-dimensional embeddings into 2D to visually separate normal patterns from anomalies.</a:t>
            </a:r>
          </a:p>
          <a:p>
            <a:r>
              <a:rPr lang="en-US" sz="1100" b="1" dirty="0"/>
              <a:t>• Cluster vs. Anomaly comparison plot</a:t>
            </a:r>
          </a:p>
          <a:p>
            <a:r>
              <a:rPr lang="en-US" sz="1100" dirty="0"/>
              <a:t>Plotted cluster labels from Task 2 and highlighted anomaly points to check if anomalies fall inside or outside known clusters.</a:t>
            </a:r>
          </a:p>
        </p:txBody>
      </p:sp>
      <p:pic>
        <p:nvPicPr>
          <p:cNvPr id="93" name="Picture 92"/>
          <p:cNvPicPr/>
          <p:nvPr/>
        </p:nvPicPr>
        <p:blipFill>
          <a:blip r:embed="rId2"/>
          <a:srcRect l="24205" t="41594" b="4606"/>
          <a:stretch/>
        </p:blipFill>
        <p:spPr>
          <a:xfrm>
            <a:off x="4875480" y="1368000"/>
            <a:ext cx="3944520" cy="324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object 2"/>
          <p:cNvSpPr/>
          <p:nvPr/>
        </p:nvSpPr>
        <p:spPr>
          <a:xfrm>
            <a:off x="0" y="4106160"/>
            <a:ext cx="1249560" cy="1036800"/>
          </a:xfrm>
          <a:custGeom>
            <a:avLst/>
            <a:gdLst>
              <a:gd name="textAreaLeft" fmla="*/ 0 w 1249560"/>
              <a:gd name="textAreaRight" fmla="*/ 1250280 w 1249560"/>
              <a:gd name="textAreaTop" fmla="*/ 0 h 1036800"/>
              <a:gd name="textAreaBottom" fmla="*/ 1037520 h 1036800"/>
            </a:gdLst>
            <a:ahLst/>
            <a:cxnLst/>
            <a:rect l="textAreaLeft" t="textAreaTop" r="textAreaRight" b="textAreaBottom"/>
            <a:pathLst>
              <a:path w="1250315" h="1037589">
                <a:moveTo>
                  <a:pt x="0" y="0"/>
                </a:moveTo>
                <a:lnTo>
                  <a:pt x="69670" y="20060"/>
                </a:lnTo>
                <a:lnTo>
                  <a:pt x="115790" y="37046"/>
                </a:lnTo>
                <a:lnTo>
                  <a:pt x="160133" y="56174"/>
                </a:lnTo>
                <a:lnTo>
                  <a:pt x="202803" y="77317"/>
                </a:lnTo>
                <a:lnTo>
                  <a:pt x="243905" y="100349"/>
                </a:lnTo>
                <a:lnTo>
                  <a:pt x="283544" y="125146"/>
                </a:lnTo>
                <a:lnTo>
                  <a:pt x="321823" y="151580"/>
                </a:lnTo>
                <a:lnTo>
                  <a:pt x="358848" y="179526"/>
                </a:lnTo>
                <a:lnTo>
                  <a:pt x="394723" y="208857"/>
                </a:lnTo>
                <a:lnTo>
                  <a:pt x="429552" y="239448"/>
                </a:lnTo>
                <a:lnTo>
                  <a:pt x="463441" y="271174"/>
                </a:lnTo>
                <a:lnTo>
                  <a:pt x="496494" y="303906"/>
                </a:lnTo>
                <a:lnTo>
                  <a:pt x="528814" y="337521"/>
                </a:lnTo>
                <a:lnTo>
                  <a:pt x="560507" y="371892"/>
                </a:lnTo>
                <a:lnTo>
                  <a:pt x="591678" y="406892"/>
                </a:lnTo>
                <a:lnTo>
                  <a:pt x="622431" y="442397"/>
                </a:lnTo>
                <a:lnTo>
                  <a:pt x="652869" y="478279"/>
                </a:lnTo>
                <a:lnTo>
                  <a:pt x="683099" y="514413"/>
                </a:lnTo>
                <a:lnTo>
                  <a:pt x="713224" y="550674"/>
                </a:lnTo>
                <a:lnTo>
                  <a:pt x="743350" y="586934"/>
                </a:lnTo>
                <a:lnTo>
                  <a:pt x="773580" y="623068"/>
                </a:lnTo>
                <a:lnTo>
                  <a:pt x="804018" y="658950"/>
                </a:lnTo>
                <a:lnTo>
                  <a:pt x="834771" y="694455"/>
                </a:lnTo>
                <a:lnTo>
                  <a:pt x="865941" y="729455"/>
                </a:lnTo>
                <a:lnTo>
                  <a:pt x="897635" y="763826"/>
                </a:lnTo>
                <a:lnTo>
                  <a:pt x="929955" y="797441"/>
                </a:lnTo>
                <a:lnTo>
                  <a:pt x="963008" y="830174"/>
                </a:lnTo>
                <a:lnTo>
                  <a:pt x="996897" y="861899"/>
                </a:lnTo>
                <a:lnTo>
                  <a:pt x="1031726" y="892490"/>
                </a:lnTo>
                <a:lnTo>
                  <a:pt x="1067601" y="921821"/>
                </a:lnTo>
                <a:lnTo>
                  <a:pt x="1104626" y="949767"/>
                </a:lnTo>
                <a:lnTo>
                  <a:pt x="1142905" y="976201"/>
                </a:lnTo>
                <a:lnTo>
                  <a:pt x="1182544" y="1000998"/>
                </a:lnTo>
                <a:lnTo>
                  <a:pt x="1223646" y="1024030"/>
                </a:lnTo>
                <a:lnTo>
                  <a:pt x="1250272" y="1037224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object 3"/>
          <p:cNvSpPr/>
          <p:nvPr/>
        </p:nvSpPr>
        <p:spPr>
          <a:xfrm>
            <a:off x="7756200" y="0"/>
            <a:ext cx="1387440" cy="1089000"/>
          </a:xfrm>
          <a:custGeom>
            <a:avLst/>
            <a:gdLst>
              <a:gd name="textAreaLeft" fmla="*/ 0 w 1387440"/>
              <a:gd name="textAreaRight" fmla="*/ 1388160 w 1387440"/>
              <a:gd name="textAreaTop" fmla="*/ 0 h 1089000"/>
              <a:gd name="textAreaBottom" fmla="*/ 1089720 h 1089000"/>
            </a:gdLst>
            <a:ahLst/>
            <a:cxnLst/>
            <a:rect l="textAreaLeft" t="textAreaTop" r="textAreaRight" b="textAreaBottom"/>
            <a:pathLst>
              <a:path w="1388109" h="1089660">
                <a:moveTo>
                  <a:pt x="0" y="0"/>
                </a:moveTo>
                <a:lnTo>
                  <a:pt x="51050" y="18497"/>
                </a:lnTo>
                <a:lnTo>
                  <a:pt x="95393" y="37624"/>
                </a:lnTo>
                <a:lnTo>
                  <a:pt x="138063" y="58768"/>
                </a:lnTo>
                <a:lnTo>
                  <a:pt x="179165" y="81800"/>
                </a:lnTo>
                <a:lnTo>
                  <a:pt x="218803" y="106597"/>
                </a:lnTo>
                <a:lnTo>
                  <a:pt x="257083" y="133031"/>
                </a:lnTo>
                <a:lnTo>
                  <a:pt x="294108" y="160977"/>
                </a:lnTo>
                <a:lnTo>
                  <a:pt x="329983" y="190308"/>
                </a:lnTo>
                <a:lnTo>
                  <a:pt x="364812" y="220899"/>
                </a:lnTo>
                <a:lnTo>
                  <a:pt x="398701" y="252624"/>
                </a:lnTo>
                <a:lnTo>
                  <a:pt x="431753" y="285357"/>
                </a:lnTo>
                <a:lnTo>
                  <a:pt x="464074" y="318972"/>
                </a:lnTo>
                <a:lnTo>
                  <a:pt x="495767" y="353343"/>
                </a:lnTo>
                <a:lnTo>
                  <a:pt x="526938" y="388343"/>
                </a:lnTo>
                <a:lnTo>
                  <a:pt x="557690" y="423848"/>
                </a:lnTo>
                <a:lnTo>
                  <a:pt x="588129" y="459730"/>
                </a:lnTo>
                <a:lnTo>
                  <a:pt x="618359" y="495864"/>
                </a:lnTo>
                <a:lnTo>
                  <a:pt x="648484" y="532124"/>
                </a:lnTo>
                <a:lnTo>
                  <a:pt x="678610" y="568385"/>
                </a:lnTo>
                <a:lnTo>
                  <a:pt x="708839" y="604519"/>
                </a:lnTo>
                <a:lnTo>
                  <a:pt x="739278" y="640401"/>
                </a:lnTo>
                <a:lnTo>
                  <a:pt x="770031" y="675906"/>
                </a:lnTo>
                <a:lnTo>
                  <a:pt x="801201" y="710906"/>
                </a:lnTo>
                <a:lnTo>
                  <a:pt x="832895" y="745277"/>
                </a:lnTo>
                <a:lnTo>
                  <a:pt x="865215" y="778892"/>
                </a:lnTo>
                <a:lnTo>
                  <a:pt x="898268" y="811624"/>
                </a:lnTo>
                <a:lnTo>
                  <a:pt x="932156" y="843350"/>
                </a:lnTo>
                <a:lnTo>
                  <a:pt x="966986" y="873941"/>
                </a:lnTo>
                <a:lnTo>
                  <a:pt x="1002861" y="903272"/>
                </a:lnTo>
                <a:lnTo>
                  <a:pt x="1039886" y="931218"/>
                </a:lnTo>
                <a:lnTo>
                  <a:pt x="1078165" y="957652"/>
                </a:lnTo>
                <a:lnTo>
                  <a:pt x="1117804" y="982449"/>
                </a:lnTo>
                <a:lnTo>
                  <a:pt x="1158906" y="1005481"/>
                </a:lnTo>
                <a:lnTo>
                  <a:pt x="1201576" y="1026624"/>
                </a:lnTo>
                <a:lnTo>
                  <a:pt x="1245919" y="1045752"/>
                </a:lnTo>
                <a:lnTo>
                  <a:pt x="1292039" y="1062738"/>
                </a:lnTo>
                <a:lnTo>
                  <a:pt x="1340041" y="1077456"/>
                </a:lnTo>
                <a:lnTo>
                  <a:pt x="1387884" y="1089252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object 4"/>
          <p:cNvSpPr/>
          <p:nvPr/>
        </p:nvSpPr>
        <p:spPr>
          <a:xfrm>
            <a:off x="7830360" y="4080240"/>
            <a:ext cx="1312920" cy="1063080"/>
          </a:xfrm>
          <a:custGeom>
            <a:avLst/>
            <a:gdLst>
              <a:gd name="textAreaLeft" fmla="*/ 0 w 1312920"/>
              <a:gd name="textAreaRight" fmla="*/ 1313640 w 1312920"/>
              <a:gd name="textAreaTop" fmla="*/ 0 h 1063080"/>
              <a:gd name="textAreaBottom" fmla="*/ 1063800 h 1063080"/>
            </a:gdLst>
            <a:ahLst/>
            <a:cxnLst/>
            <a:rect l="textAreaLeft" t="textAreaTop" r="textAreaRight" b="textAreaBottom"/>
            <a:pathLst>
              <a:path w="1313815" h="1063625">
                <a:moveTo>
                  <a:pt x="1313801" y="0"/>
                </a:moveTo>
                <a:lnTo>
                  <a:pt x="1231043" y="23287"/>
                </a:lnTo>
                <a:lnTo>
                  <a:pt x="1184923" y="40273"/>
                </a:lnTo>
                <a:lnTo>
                  <a:pt x="1140580" y="59400"/>
                </a:lnTo>
                <a:lnTo>
                  <a:pt x="1097910" y="80543"/>
                </a:lnTo>
                <a:lnTo>
                  <a:pt x="1056808" y="103576"/>
                </a:lnTo>
                <a:lnTo>
                  <a:pt x="1017170" y="128372"/>
                </a:lnTo>
                <a:lnTo>
                  <a:pt x="978890" y="154807"/>
                </a:lnTo>
                <a:lnTo>
                  <a:pt x="941865" y="182752"/>
                </a:lnTo>
                <a:lnTo>
                  <a:pt x="905990" y="212084"/>
                </a:lnTo>
                <a:lnTo>
                  <a:pt x="871161" y="242675"/>
                </a:lnTo>
                <a:lnTo>
                  <a:pt x="837272" y="274400"/>
                </a:lnTo>
                <a:lnTo>
                  <a:pt x="804220" y="307133"/>
                </a:lnTo>
                <a:lnTo>
                  <a:pt x="771899" y="340748"/>
                </a:lnTo>
                <a:lnTo>
                  <a:pt x="740206" y="375119"/>
                </a:lnTo>
                <a:lnTo>
                  <a:pt x="709035" y="410119"/>
                </a:lnTo>
                <a:lnTo>
                  <a:pt x="678283" y="445623"/>
                </a:lnTo>
                <a:lnTo>
                  <a:pt x="647844" y="481506"/>
                </a:lnTo>
                <a:lnTo>
                  <a:pt x="617614" y="517640"/>
                </a:lnTo>
                <a:lnTo>
                  <a:pt x="587489" y="553900"/>
                </a:lnTo>
                <a:lnTo>
                  <a:pt x="557363" y="590161"/>
                </a:lnTo>
                <a:lnTo>
                  <a:pt x="527134" y="626295"/>
                </a:lnTo>
                <a:lnTo>
                  <a:pt x="496695" y="662177"/>
                </a:lnTo>
                <a:lnTo>
                  <a:pt x="465942" y="697682"/>
                </a:lnTo>
                <a:lnTo>
                  <a:pt x="434772" y="732682"/>
                </a:lnTo>
                <a:lnTo>
                  <a:pt x="403078" y="767053"/>
                </a:lnTo>
                <a:lnTo>
                  <a:pt x="370758" y="800667"/>
                </a:lnTo>
                <a:lnTo>
                  <a:pt x="337705" y="833400"/>
                </a:lnTo>
                <a:lnTo>
                  <a:pt x="303817" y="865125"/>
                </a:lnTo>
                <a:lnTo>
                  <a:pt x="268987" y="895717"/>
                </a:lnTo>
                <a:lnTo>
                  <a:pt x="233112" y="925048"/>
                </a:lnTo>
                <a:lnTo>
                  <a:pt x="196087" y="952994"/>
                </a:lnTo>
                <a:lnTo>
                  <a:pt x="157808" y="979428"/>
                </a:lnTo>
                <a:lnTo>
                  <a:pt x="118169" y="1004225"/>
                </a:lnTo>
                <a:lnTo>
                  <a:pt x="77067" y="1027257"/>
                </a:lnTo>
                <a:lnTo>
                  <a:pt x="34397" y="1048400"/>
                </a:lnTo>
                <a:lnTo>
                  <a:pt x="0" y="1063238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object 5"/>
          <p:cNvSpPr/>
          <p:nvPr/>
        </p:nvSpPr>
        <p:spPr>
          <a:xfrm>
            <a:off x="0" y="0"/>
            <a:ext cx="1312920" cy="1063080"/>
          </a:xfrm>
          <a:custGeom>
            <a:avLst/>
            <a:gdLst>
              <a:gd name="textAreaLeft" fmla="*/ 0 w 1312920"/>
              <a:gd name="textAreaRight" fmla="*/ 1313640 w 1312920"/>
              <a:gd name="textAreaTop" fmla="*/ 0 h 1063080"/>
              <a:gd name="textAreaBottom" fmla="*/ 1063800 h 1063080"/>
            </a:gdLst>
            <a:ahLst/>
            <a:cxnLst/>
            <a:rect l="textAreaLeft" t="textAreaTop" r="textAreaRight" b="textAreaBottom"/>
            <a:pathLst>
              <a:path w="1313815" h="1063625">
                <a:moveTo>
                  <a:pt x="1313801" y="0"/>
                </a:moveTo>
                <a:lnTo>
                  <a:pt x="1236733" y="35980"/>
                </a:lnTo>
                <a:lnTo>
                  <a:pt x="1195631" y="59013"/>
                </a:lnTo>
                <a:lnTo>
                  <a:pt x="1155993" y="83809"/>
                </a:lnTo>
                <a:lnTo>
                  <a:pt x="1117714" y="110243"/>
                </a:lnTo>
                <a:lnTo>
                  <a:pt x="1080689" y="138189"/>
                </a:lnTo>
                <a:lnTo>
                  <a:pt x="1044814" y="167521"/>
                </a:lnTo>
                <a:lnTo>
                  <a:pt x="1009984" y="198112"/>
                </a:lnTo>
                <a:lnTo>
                  <a:pt x="976095" y="229837"/>
                </a:lnTo>
                <a:lnTo>
                  <a:pt x="943043" y="262570"/>
                </a:lnTo>
                <a:lnTo>
                  <a:pt x="910722" y="296185"/>
                </a:lnTo>
                <a:lnTo>
                  <a:pt x="879029" y="330555"/>
                </a:lnTo>
                <a:lnTo>
                  <a:pt x="847858" y="365556"/>
                </a:lnTo>
                <a:lnTo>
                  <a:pt x="817106" y="401060"/>
                </a:lnTo>
                <a:lnTo>
                  <a:pt x="786667" y="436942"/>
                </a:lnTo>
                <a:lnTo>
                  <a:pt x="756437" y="473077"/>
                </a:lnTo>
                <a:lnTo>
                  <a:pt x="726312" y="509337"/>
                </a:lnTo>
                <a:lnTo>
                  <a:pt x="696187" y="545597"/>
                </a:lnTo>
                <a:lnTo>
                  <a:pt x="665957" y="581732"/>
                </a:lnTo>
                <a:lnTo>
                  <a:pt x="635518" y="617614"/>
                </a:lnTo>
                <a:lnTo>
                  <a:pt x="604766" y="653118"/>
                </a:lnTo>
                <a:lnTo>
                  <a:pt x="573595" y="688119"/>
                </a:lnTo>
                <a:lnTo>
                  <a:pt x="541902" y="722489"/>
                </a:lnTo>
                <a:lnTo>
                  <a:pt x="509581" y="756104"/>
                </a:lnTo>
                <a:lnTo>
                  <a:pt x="476529" y="788837"/>
                </a:lnTo>
                <a:lnTo>
                  <a:pt x="442640" y="820562"/>
                </a:lnTo>
                <a:lnTo>
                  <a:pt x="407810" y="851153"/>
                </a:lnTo>
                <a:lnTo>
                  <a:pt x="371935" y="880485"/>
                </a:lnTo>
                <a:lnTo>
                  <a:pt x="334910" y="908431"/>
                </a:lnTo>
                <a:lnTo>
                  <a:pt x="296631" y="934865"/>
                </a:lnTo>
                <a:lnTo>
                  <a:pt x="256993" y="959661"/>
                </a:lnTo>
                <a:lnTo>
                  <a:pt x="215890" y="982694"/>
                </a:lnTo>
                <a:lnTo>
                  <a:pt x="173220" y="1003837"/>
                </a:lnTo>
                <a:lnTo>
                  <a:pt x="128878" y="1022964"/>
                </a:lnTo>
                <a:lnTo>
                  <a:pt x="82758" y="1039950"/>
                </a:lnTo>
                <a:lnTo>
                  <a:pt x="34756" y="1054669"/>
                </a:lnTo>
                <a:lnTo>
                  <a:pt x="0" y="1063238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559080" y="244800"/>
            <a:ext cx="6669720" cy="475200"/>
          </a:xfrm>
          <a:prstGeom prst="rect">
            <a:avLst/>
          </a:prstGeom>
          <a:noFill/>
          <a:ln w="0">
            <a:noFill/>
          </a:ln>
        </p:spPr>
        <p:txBody>
          <a:bodyPr lIns="0" tIns="12600" rIns="0" bIns="0" anchor="t">
            <a:spAutoFit/>
          </a:bodyPr>
          <a:lstStyle/>
          <a:p>
            <a:pPr marL="76320" indent="0">
              <a:lnSpc>
                <a:spcPct val="100000"/>
              </a:lnSpc>
              <a:spcBef>
                <a:spcPts val="99"/>
              </a:spcBef>
              <a:buNone/>
              <a:tabLst>
                <a:tab pos="0" algn="l"/>
              </a:tabLst>
            </a:pPr>
            <a:r>
              <a:rPr lang="en-IN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K-Means Clustering: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object 7"/>
          <p:cNvSpPr/>
          <p:nvPr/>
        </p:nvSpPr>
        <p:spPr>
          <a:xfrm>
            <a:off x="559080" y="696240"/>
            <a:ext cx="7995960" cy="56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600" rIns="0" bIns="0" anchor="t">
            <a:spAutoFit/>
          </a:bodyPr>
          <a:lstStyle/>
          <a:p>
            <a:pPr marL="297720" indent="-285840">
              <a:lnSpc>
                <a:spcPct val="113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Symbol" charset="2"/>
              <a:buChar char=""/>
              <a:tabLst>
                <a:tab pos="36396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To group semantically similar failure logs into clusters for identifying common failure patterns. 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720000" y="1620000"/>
            <a:ext cx="4680000" cy="3192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Used BERT embeddings of error messages as feature vectors.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Applied KMeans clustering (k = 10) to group similar failures.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Each cluster represents a unique failure signature or pattern.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Extracted top keywords from each cluster using TF-IDF for interpretability.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Assigned cluster labels to each log entry.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Saved clustered results to:</a:t>
            </a:r>
            <a:r>
              <a:rPr lang="en-IN" sz="1100" b="1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 data/cluster/failure_clusters.csv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pic>
        <p:nvPicPr>
          <p:cNvPr id="101" name="Picture 100"/>
          <p:cNvPicPr/>
          <p:nvPr/>
        </p:nvPicPr>
        <p:blipFill>
          <a:blip r:embed="rId2"/>
          <a:srcRect t="20743" r="51013" b="12721"/>
          <a:stretch/>
        </p:blipFill>
        <p:spPr>
          <a:xfrm>
            <a:off x="5135040" y="1089000"/>
            <a:ext cx="3420000" cy="143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Picture 101"/>
          <p:cNvPicPr/>
          <p:nvPr/>
        </p:nvPicPr>
        <p:blipFill>
          <a:blip r:embed="rId3"/>
          <a:srcRect l="5675" t="27746" r="35266" b="12721"/>
          <a:stretch/>
        </p:blipFill>
        <p:spPr>
          <a:xfrm>
            <a:off x="5087880" y="2728440"/>
            <a:ext cx="3419640" cy="1979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object 2"/>
          <p:cNvSpPr/>
          <p:nvPr/>
        </p:nvSpPr>
        <p:spPr>
          <a:xfrm>
            <a:off x="7767720" y="0"/>
            <a:ext cx="1375920" cy="1105920"/>
          </a:xfrm>
          <a:custGeom>
            <a:avLst/>
            <a:gdLst>
              <a:gd name="textAreaLeft" fmla="*/ 0 w 1375920"/>
              <a:gd name="textAreaRight" fmla="*/ 1376640 w 1375920"/>
              <a:gd name="textAreaTop" fmla="*/ 0 h 1105920"/>
              <a:gd name="textAreaBottom" fmla="*/ 1106640 h 1105920"/>
            </a:gdLst>
            <a:ahLst/>
            <a:cxnLst/>
            <a:rect l="textAreaLeft" t="textAreaTop" r="textAreaRight" b="textAreaBottom"/>
            <a:pathLst>
              <a:path w="1376679" h="1106805">
                <a:moveTo>
                  <a:pt x="0" y="0"/>
                </a:moveTo>
                <a:lnTo>
                  <a:pt x="50459" y="32753"/>
                </a:lnTo>
                <a:lnTo>
                  <a:pt x="87275" y="59286"/>
                </a:lnTo>
                <a:lnTo>
                  <a:pt x="123041" y="87082"/>
                </a:lnTo>
                <a:lnTo>
                  <a:pt x="157837" y="116042"/>
                </a:lnTo>
                <a:lnTo>
                  <a:pt x="191744" y="146070"/>
                </a:lnTo>
                <a:lnTo>
                  <a:pt x="224843" y="177069"/>
                </a:lnTo>
                <a:lnTo>
                  <a:pt x="257215" y="208941"/>
                </a:lnTo>
                <a:lnTo>
                  <a:pt x="288941" y="241591"/>
                </a:lnTo>
                <a:lnTo>
                  <a:pt x="320101" y="274919"/>
                </a:lnTo>
                <a:lnTo>
                  <a:pt x="350777" y="308830"/>
                </a:lnTo>
                <a:lnTo>
                  <a:pt x="381048" y="343227"/>
                </a:lnTo>
                <a:lnTo>
                  <a:pt x="410996" y="378011"/>
                </a:lnTo>
                <a:lnTo>
                  <a:pt x="440702" y="413087"/>
                </a:lnTo>
                <a:lnTo>
                  <a:pt x="470246" y="448357"/>
                </a:lnTo>
                <a:lnTo>
                  <a:pt x="499710" y="483724"/>
                </a:lnTo>
                <a:lnTo>
                  <a:pt x="529173" y="519092"/>
                </a:lnTo>
                <a:lnTo>
                  <a:pt x="558718" y="554362"/>
                </a:lnTo>
                <a:lnTo>
                  <a:pt x="588423" y="589438"/>
                </a:lnTo>
                <a:lnTo>
                  <a:pt x="618372" y="624222"/>
                </a:lnTo>
                <a:lnTo>
                  <a:pt x="648643" y="658619"/>
                </a:lnTo>
                <a:lnTo>
                  <a:pt x="679318" y="692530"/>
                </a:lnTo>
                <a:lnTo>
                  <a:pt x="710479" y="725858"/>
                </a:lnTo>
                <a:lnTo>
                  <a:pt x="742204" y="758508"/>
                </a:lnTo>
                <a:lnTo>
                  <a:pt x="774576" y="790380"/>
                </a:lnTo>
                <a:lnTo>
                  <a:pt x="807676" y="821379"/>
                </a:lnTo>
                <a:lnTo>
                  <a:pt x="841583" y="851407"/>
                </a:lnTo>
                <a:lnTo>
                  <a:pt x="876379" y="880367"/>
                </a:lnTo>
                <a:lnTo>
                  <a:pt x="912144" y="908163"/>
                </a:lnTo>
                <a:lnTo>
                  <a:pt x="948960" y="934696"/>
                </a:lnTo>
                <a:lnTo>
                  <a:pt x="986907" y="959871"/>
                </a:lnTo>
                <a:lnTo>
                  <a:pt x="1026066" y="983589"/>
                </a:lnTo>
                <a:lnTo>
                  <a:pt x="1066518" y="1005754"/>
                </a:lnTo>
                <a:lnTo>
                  <a:pt x="1108343" y="1026269"/>
                </a:lnTo>
                <a:lnTo>
                  <a:pt x="1151623" y="1045037"/>
                </a:lnTo>
                <a:lnTo>
                  <a:pt x="1196437" y="1061960"/>
                </a:lnTo>
                <a:lnTo>
                  <a:pt x="1242868" y="1076941"/>
                </a:lnTo>
                <a:lnTo>
                  <a:pt x="1290995" y="1089885"/>
                </a:lnTo>
                <a:lnTo>
                  <a:pt x="1340900" y="1100692"/>
                </a:lnTo>
                <a:lnTo>
                  <a:pt x="1376160" y="1106533"/>
                </a:lnTo>
              </a:path>
            </a:pathLst>
          </a:custGeom>
          <a:noFill/>
          <a:ln w="28574">
            <a:solidFill>
              <a:srgbClr val="3E35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326520" y="197640"/>
            <a:ext cx="7593480" cy="522360"/>
          </a:xfrm>
          <a:prstGeom prst="rect">
            <a:avLst/>
          </a:prstGeom>
          <a:noFill/>
          <a:ln w="0">
            <a:noFill/>
          </a:ln>
        </p:spPr>
        <p:txBody>
          <a:bodyPr lIns="0" tIns="59760" rIns="0" bIns="0" anchor="t">
            <a:spAutoFit/>
          </a:bodyPr>
          <a:lstStyle/>
          <a:p>
            <a:pPr marL="114480" indent="0">
              <a:lnSpc>
                <a:spcPct val="100000"/>
              </a:lnSpc>
              <a:spcBef>
                <a:spcPts val="99"/>
              </a:spcBef>
              <a:buNone/>
              <a:tabLst>
                <a:tab pos="0" algn="l"/>
              </a:tabLst>
            </a:pPr>
            <a:r>
              <a:rPr lang="en-IN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Pattern Detection &amp; Correlation Analysis</a:t>
            </a:r>
            <a:r>
              <a:rPr lang="en-IN" sz="2400" b="0" u="none" strike="noStrike" spc="-11">
                <a:solidFill>
                  <a:schemeClr val="dk1"/>
                </a:solidFill>
                <a:effectLst/>
                <a:uFillTx/>
                <a:latin typeface="Cambria"/>
              </a:rPr>
              <a:t>: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object 4"/>
          <p:cNvSpPr/>
          <p:nvPr/>
        </p:nvSpPr>
        <p:spPr>
          <a:xfrm>
            <a:off x="540000" y="679680"/>
            <a:ext cx="803196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600" rIns="0" bIns="0" anchor="t">
            <a:spAutoFit/>
          </a:bodyPr>
          <a:lstStyle/>
          <a:p>
            <a:pPr marL="298440" indent="-2858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Symbol" charset="2"/>
              <a:buChar char=""/>
              <a:tabLst>
                <a:tab pos="37152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To uncover hidden relationships between failure patterns (clusters) and system attributes such as DUT version, configuration, and time.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99"/>
              </a:spcBef>
              <a:tabLst>
                <a:tab pos="371520" algn="l"/>
              </a:tabLst>
            </a:pP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180000" y="1133640"/>
            <a:ext cx="3960000" cy="4086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=&gt; Loaded failure_clusters.csv generated from KMeans–BERT clustering.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=&gt; Verified presence of key columns: cluster, dut_version, config, suite, run_date.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=&gt; Filtered only valid cluster labels (≥ 0).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=&gt; Calculated failure frequency per cluster for summary insights.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=&gt; Used Seaborn visualizations to correlate clusters with: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DUT versions → Identify version-specific issues.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Configurations → Detect config-related failures.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Suites → Highlight test suite sensitivity.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Time (run_date) → Observe trend of recurring issues.</a:t>
            </a:r>
            <a:br>
              <a:rPr sz="1100"/>
            </a:br>
            <a:br>
              <a:rPr sz="1100"/>
            </a:br>
            <a:r>
              <a:rPr lang="en-IN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=&gt;Saved all correlation plots and summary CSVs to data/outputs/</a:t>
            </a: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Picture 106"/>
          <p:cNvPicPr/>
          <p:nvPr/>
        </p:nvPicPr>
        <p:blipFill>
          <a:blip r:embed="rId2"/>
          <a:srcRect l="43075" t="12958" r="17550" b="51235"/>
          <a:stretch/>
        </p:blipFill>
        <p:spPr>
          <a:xfrm>
            <a:off x="4972320" y="898560"/>
            <a:ext cx="3599640" cy="183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Picture 107"/>
          <p:cNvPicPr/>
          <p:nvPr/>
        </p:nvPicPr>
        <p:blipFill>
          <a:blip r:embed="rId3"/>
          <a:srcRect l="43075" t="12958" r="17550" b="51235"/>
          <a:stretch/>
        </p:blipFill>
        <p:spPr>
          <a:xfrm>
            <a:off x="6840000" y="2880000"/>
            <a:ext cx="2160000" cy="183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" name="Picture 108"/>
          <p:cNvPicPr/>
          <p:nvPr/>
        </p:nvPicPr>
        <p:blipFill>
          <a:blip r:embed="rId4"/>
          <a:srcRect l="42297" t="12958" r="17622" b="51235"/>
          <a:stretch/>
        </p:blipFill>
        <p:spPr>
          <a:xfrm>
            <a:off x="4500000" y="2880000"/>
            <a:ext cx="2160000" cy="1839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350280" y="180000"/>
            <a:ext cx="6669720" cy="545760"/>
          </a:xfrm>
          <a:prstGeom prst="rect">
            <a:avLst/>
          </a:prstGeom>
          <a:noFill/>
          <a:ln w="0">
            <a:noFill/>
          </a:ln>
        </p:spPr>
        <p:txBody>
          <a:bodyPr lIns="0" tIns="75600" rIns="0" bIns="0" anchor="t">
            <a:spAutoFit/>
          </a:bodyPr>
          <a:lstStyle/>
          <a:p>
            <a:pPr marL="12600" indent="0">
              <a:lnSpc>
                <a:spcPct val="100000"/>
              </a:lnSpc>
              <a:spcBef>
                <a:spcPts val="99"/>
              </a:spcBef>
              <a:buNone/>
              <a:tabLst>
                <a:tab pos="0" algn="l"/>
              </a:tabLst>
            </a:pPr>
            <a:r>
              <a:rPr lang="en-IN" sz="24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Root Cause Pattern Labelling</a:t>
            </a:r>
            <a:endParaRPr lang="en-IN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360000" y="725760"/>
            <a:ext cx="4500000" cy="4442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Loaded failure_clusters.csv from clustering output.</a:t>
            </a:r>
            <a:br>
              <a:rPr sz="1200"/>
            </a:b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Filtered valid clusters (cluster != -1) and handled missing messages.</a:t>
            </a:r>
            <a:br>
              <a:rPr sz="1200"/>
            </a:b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Extracted frequent keywords per cluster using Counter() (ignoring stop words).</a:t>
            </a:r>
            <a:br>
              <a:rPr sz="1200"/>
            </a:b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=&gt;Defined manual mappings (HUMAN_LABELS) for 10 key root cause categories:</a:t>
            </a: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         Interface/Port Mismatch</a:t>
            </a: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         Capture ID Handling Error</a:t>
            </a: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         CLI Command Failure</a:t>
            </a: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         Validation Issues</a:t>
            </a: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         PTP Transmission Errors</a:t>
            </a: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         DUT Configuration Issues, etc.</a:t>
            </a: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        </a:t>
            </a: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Mapped clusters → human-readable root cause labels.</a:t>
            </a:r>
            <a:br>
              <a:rPr sz="1200"/>
            </a:b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=&gt;Selected sample failure messages (3 per cluster) as representative examples.</a:t>
            </a: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pic>
        <p:nvPicPr>
          <p:cNvPr id="112" name="Picture 111"/>
          <p:cNvPicPr/>
          <p:nvPr/>
        </p:nvPicPr>
        <p:blipFill>
          <a:blip r:embed="rId2"/>
          <a:srcRect l="5675" t="30215" r="37234" b="3291"/>
          <a:stretch/>
        </p:blipFill>
        <p:spPr>
          <a:xfrm>
            <a:off x="5040000" y="2520360"/>
            <a:ext cx="3599640" cy="19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Picture 112"/>
          <p:cNvPicPr/>
          <p:nvPr/>
        </p:nvPicPr>
        <p:blipFill>
          <a:blip r:embed="rId3"/>
          <a:srcRect l="5675" t="27746" r="35266" b="9222"/>
          <a:stretch/>
        </p:blipFill>
        <p:spPr>
          <a:xfrm>
            <a:off x="5040360" y="540000"/>
            <a:ext cx="3599640" cy="180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350280" y="360000"/>
            <a:ext cx="6669720" cy="475200"/>
          </a:xfrm>
          <a:prstGeom prst="rect">
            <a:avLst/>
          </a:prstGeom>
          <a:noFill/>
          <a:ln w="0">
            <a:noFill/>
          </a:ln>
        </p:spPr>
        <p:txBody>
          <a:bodyPr lIns="0" tIns="12600" rIns="0" bIns="0" anchor="t">
            <a:spAutoFit/>
          </a:bodyPr>
          <a:lstStyle/>
          <a:p>
            <a:pPr marL="44280" indent="0">
              <a:lnSpc>
                <a:spcPct val="100000"/>
              </a:lnSpc>
              <a:spcBef>
                <a:spcPts val="99"/>
              </a:spcBef>
              <a:buNone/>
              <a:tabLst>
                <a:tab pos="0" algn="l"/>
              </a:tabLst>
            </a:pPr>
            <a:r>
              <a:rPr lang="en-IN" sz="24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Visualization &amp; Reporting</a:t>
            </a:r>
            <a:endParaRPr lang="en-IN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360000" y="900000"/>
            <a:ext cx="4320000" cy="39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Loaded the labelled dataset containing clusters and root cause categories.</a:t>
            </a:r>
            <a:br>
              <a:rPr sz="1200"/>
            </a:b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Visualized Root Cause Frequency to identify the most recurring failure patterns.</a:t>
            </a:r>
            <a:br>
              <a:rPr sz="1200"/>
            </a:b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Plotted Cluster Distribution to understand how test failures are grouped.</a:t>
            </a:r>
            <a:br>
              <a:rPr sz="1200"/>
            </a:br>
            <a:br>
              <a:rPr sz="1200"/>
            </a:br>
            <a:r>
              <a:rPr lang="en-IN" sz="12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=&gt; Extracted and summarized Top Keywords for each root cause to interpret cluster meanings.</a:t>
            </a: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pic>
        <p:nvPicPr>
          <p:cNvPr id="116" name="Picture 115"/>
          <p:cNvPicPr/>
          <p:nvPr/>
        </p:nvPicPr>
        <p:blipFill>
          <a:blip r:embed="rId2"/>
          <a:srcRect l="5904" t="20994" r="37004" b="19469"/>
          <a:stretch/>
        </p:blipFill>
        <p:spPr>
          <a:xfrm>
            <a:off x="5040000" y="360360"/>
            <a:ext cx="3420000" cy="19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Picture 116"/>
          <p:cNvPicPr/>
          <p:nvPr/>
        </p:nvPicPr>
        <p:blipFill>
          <a:blip r:embed="rId3"/>
          <a:srcRect l="5675" t="34749" r="35266" b="12721"/>
          <a:stretch/>
        </p:blipFill>
        <p:spPr>
          <a:xfrm>
            <a:off x="5040000" y="2520000"/>
            <a:ext cx="3419640" cy="215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Picture 117"/>
          <p:cNvPicPr/>
          <p:nvPr/>
        </p:nvPicPr>
        <p:blipFill>
          <a:blip r:embed="rId4"/>
          <a:srcRect l="3708" t="52254" r="51013" b="16225"/>
          <a:stretch/>
        </p:blipFill>
        <p:spPr>
          <a:xfrm>
            <a:off x="360000" y="3060360"/>
            <a:ext cx="4139640" cy="1619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2485800" y="1733400"/>
            <a:ext cx="4171680" cy="1090440"/>
          </a:xfrm>
          <a:prstGeom prst="rect">
            <a:avLst/>
          </a:prstGeom>
          <a:noFill/>
          <a:ln w="0">
            <a:noFill/>
          </a:ln>
        </p:spPr>
        <p:txBody>
          <a:bodyPr lIns="0" tIns="12600" rIns="0" bIns="0" anchor="t">
            <a:spAutoFit/>
          </a:bodyPr>
          <a:lstStyle/>
          <a:p>
            <a:pPr marL="12600" indent="0">
              <a:lnSpc>
                <a:spcPct val="100000"/>
              </a:lnSpc>
              <a:spcBef>
                <a:spcPts val="99"/>
              </a:spcBef>
              <a:buNone/>
              <a:tabLst>
                <a:tab pos="0" algn="l"/>
              </a:tabLst>
            </a:pPr>
            <a:r>
              <a:rPr lang="en-IN" sz="7000" b="0" u="none" strike="noStrike" spc="-11">
                <a:solidFill>
                  <a:schemeClr val="dk1"/>
                </a:solidFill>
                <a:effectLst/>
                <a:uFillTx/>
                <a:latin typeface="Cambria"/>
              </a:rPr>
              <a:t>Thank</a:t>
            </a:r>
            <a:r>
              <a:rPr lang="en-US" sz="7000" b="0" u="none" strike="noStrike" spc="-11">
                <a:solidFill>
                  <a:schemeClr val="dk1"/>
                </a:solidFill>
                <a:effectLst/>
                <a:uFillTx/>
                <a:latin typeface="Cambria"/>
              </a:rPr>
              <a:t> You</a:t>
            </a:r>
            <a:endParaRPr lang="en-IN" sz="7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268</TotalTime>
  <Words>1391</Words>
  <Application>Microsoft Office PowerPoint</Application>
  <PresentationFormat>On-screen Show (16:9)</PresentationFormat>
  <Paragraphs>91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Calibri</vt:lpstr>
      <vt:lpstr>Cambria</vt:lpstr>
      <vt:lpstr>Roboto</vt:lpstr>
      <vt:lpstr>Symbol</vt:lpstr>
      <vt:lpstr>Times New Roman</vt:lpstr>
      <vt:lpstr>Wingdings</vt:lpstr>
      <vt:lpstr>Office Theme</vt:lpstr>
      <vt:lpstr>Quick Ingest &amp; Exploratory Data Analysis</vt:lpstr>
      <vt:lpstr>Objective:</vt:lpstr>
      <vt:lpstr>Data Preparation:</vt:lpstr>
      <vt:lpstr>Splitting &amp; Preprocessing:</vt:lpstr>
      <vt:lpstr>PowerPoint Presentation</vt:lpstr>
      <vt:lpstr>Classification Output:</vt:lpstr>
      <vt:lpstr>PowerPoint Presentation</vt:lpstr>
      <vt:lpstr>Anomaly Output:</vt:lpstr>
      <vt:lpstr>Visualization: </vt:lpstr>
      <vt:lpstr>K-Means Clustering:</vt:lpstr>
      <vt:lpstr>Pattern Detection &amp; Correlation Analysis:</vt:lpstr>
      <vt:lpstr>Root Cause Pattern Labelling</vt:lpstr>
      <vt:lpstr>Visualization &amp; Reporting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Quick Ingest &amp; EDA</dc:title>
  <dc:subject/>
  <dc:creator>YESWANTH S</dc:creator>
  <dc:description/>
  <cp:lastModifiedBy>YESWANTH S</cp:lastModifiedBy>
  <cp:revision>4</cp:revision>
  <dcterms:created xsi:type="dcterms:W3CDTF">2025-10-26T15:09:42Z</dcterms:created>
  <dcterms:modified xsi:type="dcterms:W3CDTF">2025-11-16T18:03:35Z</dcterms:modified>
  <dc:language>en-IN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2025-10-26T00:00:00Z</vt:filetime>
  </property>
  <property fmtid="{D5CDD505-2E9C-101B-9397-08002B2CF9AE}" pid="3" name="Creator">
    <vt:lpwstr>Google</vt:lpwstr>
  </property>
  <property fmtid="{D5CDD505-2E9C-101B-9397-08002B2CF9AE}" pid="4" name="LastSaved">
    <vt:filetime>2025-10-26T00:00:00Z</vt:filetime>
  </property>
  <property fmtid="{D5CDD505-2E9C-101B-9397-08002B2CF9AE}" pid="5" name="PresentationFormat">
    <vt:lpwstr>On-screen Show (16:9)</vt:lpwstr>
  </property>
  <property fmtid="{D5CDD505-2E9C-101B-9397-08002B2CF9AE}" pid="6" name="Slides">
    <vt:i4>9</vt:i4>
  </property>
</Properties>
</file>